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5" userDrawn="1">
          <p15:clr>
            <a:srgbClr val="A4A3A4"/>
          </p15:clr>
        </p15:guide>
        <p15:guide id="2" pos="21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05"/>
        <p:guide pos="21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 u="sng">
                <a:solidFill>
                  <a:schemeClr val="tx2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Adobe Gothic Std B"/>
                <a:cs typeface="Adobe Gothic Std B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750" b="1" i="0" u="sng">
                <a:solidFill>
                  <a:schemeClr val="tx2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Adobe Gothic Std B"/>
                <a:cs typeface="Adobe Gothic Std B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Adobe Gothic Std B"/>
                <a:cs typeface="Adobe Gothic Std B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Adobe Gothic Std B"/>
                <a:cs typeface="Adobe Gothic Std B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Adobe Gothic Std B"/>
                <a:cs typeface="Adobe Gothic Std B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8483600"/>
            <a:ext cx="16256000" cy="660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445500"/>
            <a:ext cx="16256000" cy="698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6700" y="92110"/>
            <a:ext cx="9234170" cy="1357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" y="2669063"/>
            <a:ext cx="13514069" cy="3265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 u="sng">
                <a:solidFill>
                  <a:schemeClr val="tx2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45300" y="8610600"/>
            <a:ext cx="296545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5163800" y="8616453"/>
            <a:ext cx="20574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bg1"/>
                </a:solidFill>
                <a:latin typeface="Adobe Gothic Std B"/>
                <a:cs typeface="Adobe Gothic Std B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thub.com/mepellireeta-wq/interoperability-framework" TargetMode="Externa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42487" y="1135378"/>
            <a:ext cx="6184900" cy="6873875"/>
            <a:chOff x="7542487" y="1135378"/>
            <a:chExt cx="6184900" cy="6873875"/>
          </a:xfrm>
        </p:grpSpPr>
        <p:sp>
          <p:nvSpPr>
            <p:cNvPr id="3" name="object 3"/>
            <p:cNvSpPr/>
            <p:nvPr/>
          </p:nvSpPr>
          <p:spPr>
            <a:xfrm>
              <a:off x="7542487" y="1135378"/>
              <a:ext cx="6184900" cy="6873875"/>
            </a:xfrm>
            <a:custGeom>
              <a:avLst/>
              <a:gdLst/>
              <a:ahLst/>
              <a:cxnLst/>
              <a:rect l="l" t="t" r="r" b="b"/>
              <a:pathLst>
                <a:path w="6184900" h="6873875">
                  <a:moveTo>
                    <a:pt x="4690918" y="6873393"/>
                  </a:moveTo>
                  <a:lnTo>
                    <a:pt x="2489758" y="6873393"/>
                  </a:lnTo>
                  <a:lnTo>
                    <a:pt x="2447442" y="6870400"/>
                  </a:lnTo>
                  <a:lnTo>
                    <a:pt x="2406238" y="6861571"/>
                  </a:lnTo>
                  <a:lnTo>
                    <a:pt x="2366403" y="6847134"/>
                  </a:lnTo>
                  <a:lnTo>
                    <a:pt x="2328194" y="6827316"/>
                  </a:lnTo>
                  <a:lnTo>
                    <a:pt x="2291867" y="6802345"/>
                  </a:lnTo>
                  <a:lnTo>
                    <a:pt x="2257681" y="6772448"/>
                  </a:lnTo>
                  <a:lnTo>
                    <a:pt x="2225890" y="6737852"/>
                  </a:lnTo>
                  <a:lnTo>
                    <a:pt x="2196752" y="6698785"/>
                  </a:lnTo>
                  <a:lnTo>
                    <a:pt x="2170523" y="6655474"/>
                  </a:lnTo>
                  <a:lnTo>
                    <a:pt x="2147461" y="6608147"/>
                  </a:lnTo>
                  <a:lnTo>
                    <a:pt x="1049258" y="4075659"/>
                  </a:lnTo>
                  <a:lnTo>
                    <a:pt x="1031578" y="4031569"/>
                  </a:lnTo>
                  <a:lnTo>
                    <a:pt x="1017433" y="3985686"/>
                  </a:lnTo>
                  <a:lnTo>
                    <a:pt x="1006825" y="3938408"/>
                  </a:lnTo>
                  <a:lnTo>
                    <a:pt x="999752" y="3890133"/>
                  </a:lnTo>
                  <a:lnTo>
                    <a:pt x="996216" y="3841261"/>
                  </a:lnTo>
                  <a:lnTo>
                    <a:pt x="996216" y="3792190"/>
                  </a:lnTo>
                  <a:lnTo>
                    <a:pt x="999752" y="3743317"/>
                  </a:lnTo>
                  <a:lnTo>
                    <a:pt x="1006825" y="3695043"/>
                  </a:lnTo>
                  <a:lnTo>
                    <a:pt x="1017433" y="3647765"/>
                  </a:lnTo>
                  <a:lnTo>
                    <a:pt x="1031578" y="3601882"/>
                  </a:lnTo>
                  <a:lnTo>
                    <a:pt x="1049258" y="3557792"/>
                  </a:lnTo>
                  <a:lnTo>
                    <a:pt x="1491395" y="2538217"/>
                  </a:lnTo>
                  <a:lnTo>
                    <a:pt x="1490186" y="2537540"/>
                  </a:lnTo>
                  <a:lnTo>
                    <a:pt x="1456213" y="2502481"/>
                  </a:lnTo>
                  <a:lnTo>
                    <a:pt x="1429541" y="2455983"/>
                  </a:lnTo>
                  <a:lnTo>
                    <a:pt x="968334" y="1392430"/>
                  </a:lnTo>
                  <a:lnTo>
                    <a:pt x="953958" y="1350716"/>
                  </a:lnTo>
                  <a:lnTo>
                    <a:pt x="946770" y="1306328"/>
                  </a:lnTo>
                  <a:lnTo>
                    <a:pt x="946770" y="1261049"/>
                  </a:lnTo>
                  <a:lnTo>
                    <a:pt x="953958" y="1216660"/>
                  </a:lnTo>
                  <a:lnTo>
                    <a:pt x="968380" y="1174840"/>
                  </a:lnTo>
                  <a:lnTo>
                    <a:pt x="1429541" y="111396"/>
                  </a:lnTo>
                  <a:lnTo>
                    <a:pt x="1456213" y="64898"/>
                  </a:lnTo>
                  <a:lnTo>
                    <a:pt x="1490185" y="29838"/>
                  </a:lnTo>
                  <a:lnTo>
                    <a:pt x="1529773" y="7708"/>
                  </a:lnTo>
                  <a:lnTo>
                    <a:pt x="1573291" y="0"/>
                  </a:lnTo>
                  <a:lnTo>
                    <a:pt x="2497700" y="0"/>
                  </a:lnTo>
                  <a:lnTo>
                    <a:pt x="2540345" y="7708"/>
                  </a:lnTo>
                  <a:lnTo>
                    <a:pt x="2579808" y="29838"/>
                  </a:lnTo>
                  <a:lnTo>
                    <a:pt x="2613655" y="64898"/>
                  </a:lnTo>
                  <a:lnTo>
                    <a:pt x="2639454" y="111396"/>
                  </a:lnTo>
                  <a:lnTo>
                    <a:pt x="2654377" y="145659"/>
                  </a:lnTo>
                  <a:lnTo>
                    <a:pt x="1625738" y="145659"/>
                  </a:lnTo>
                  <a:lnTo>
                    <a:pt x="1587158" y="152493"/>
                  </a:lnTo>
                  <a:lnTo>
                    <a:pt x="1552062" y="172112"/>
                  </a:lnTo>
                  <a:lnTo>
                    <a:pt x="1521944" y="203194"/>
                  </a:lnTo>
                  <a:lnTo>
                    <a:pt x="1498298" y="244415"/>
                  </a:lnTo>
                  <a:lnTo>
                    <a:pt x="1089426" y="1187284"/>
                  </a:lnTo>
                  <a:lnTo>
                    <a:pt x="1074491" y="1233943"/>
                  </a:lnTo>
                  <a:lnTo>
                    <a:pt x="1069513" y="1283688"/>
                  </a:lnTo>
                  <a:lnTo>
                    <a:pt x="1074491" y="1333433"/>
                  </a:lnTo>
                  <a:lnTo>
                    <a:pt x="1089392" y="1379986"/>
                  </a:lnTo>
                  <a:lnTo>
                    <a:pt x="1498298" y="2322963"/>
                  </a:lnTo>
                  <a:lnTo>
                    <a:pt x="1521944" y="2364184"/>
                  </a:lnTo>
                  <a:lnTo>
                    <a:pt x="1552062" y="2395265"/>
                  </a:lnTo>
                  <a:lnTo>
                    <a:pt x="1558283" y="2398741"/>
                  </a:lnTo>
                  <a:lnTo>
                    <a:pt x="1500130" y="2532843"/>
                  </a:lnTo>
                  <a:lnTo>
                    <a:pt x="1536434" y="2550561"/>
                  </a:lnTo>
                  <a:lnTo>
                    <a:pt x="1569375" y="2554932"/>
                  </a:lnTo>
                  <a:lnTo>
                    <a:pt x="5694647" y="2554932"/>
                  </a:lnTo>
                  <a:lnTo>
                    <a:pt x="6131416" y="3557792"/>
                  </a:lnTo>
                  <a:lnTo>
                    <a:pt x="6149097" y="3601882"/>
                  </a:lnTo>
                  <a:lnTo>
                    <a:pt x="6163242" y="3647765"/>
                  </a:lnTo>
                  <a:lnTo>
                    <a:pt x="6173850" y="3695043"/>
                  </a:lnTo>
                  <a:lnTo>
                    <a:pt x="6180922" y="3743317"/>
                  </a:lnTo>
                  <a:lnTo>
                    <a:pt x="6184458" y="3792190"/>
                  </a:lnTo>
                  <a:lnTo>
                    <a:pt x="6184458" y="3841261"/>
                  </a:lnTo>
                  <a:lnTo>
                    <a:pt x="6180922" y="3890133"/>
                  </a:lnTo>
                  <a:lnTo>
                    <a:pt x="6173850" y="3938408"/>
                  </a:lnTo>
                  <a:lnTo>
                    <a:pt x="6163242" y="3985686"/>
                  </a:lnTo>
                  <a:lnTo>
                    <a:pt x="6149097" y="4031569"/>
                  </a:lnTo>
                  <a:lnTo>
                    <a:pt x="6131416" y="4075659"/>
                  </a:lnTo>
                  <a:lnTo>
                    <a:pt x="5028460" y="6608147"/>
                  </a:lnTo>
                  <a:lnTo>
                    <a:pt x="5003894" y="6660489"/>
                  </a:lnTo>
                  <a:lnTo>
                    <a:pt x="4974906" y="6707842"/>
                  </a:lnTo>
                  <a:lnTo>
                    <a:pt x="4942006" y="6749892"/>
                  </a:lnTo>
                  <a:lnTo>
                    <a:pt x="4905701" y="6786329"/>
                  </a:lnTo>
                  <a:lnTo>
                    <a:pt x="4866501" y="6816841"/>
                  </a:lnTo>
                  <a:lnTo>
                    <a:pt x="4824914" y="6841115"/>
                  </a:lnTo>
                  <a:lnTo>
                    <a:pt x="4781448" y="6858839"/>
                  </a:lnTo>
                  <a:lnTo>
                    <a:pt x="4736613" y="6869703"/>
                  </a:lnTo>
                  <a:lnTo>
                    <a:pt x="4690918" y="6873393"/>
                  </a:lnTo>
                  <a:close/>
                </a:path>
                <a:path w="6184900" h="6873875">
                  <a:moveTo>
                    <a:pt x="2915972" y="746304"/>
                  </a:moveTo>
                  <a:lnTo>
                    <a:pt x="2789508" y="746304"/>
                  </a:lnTo>
                  <a:lnTo>
                    <a:pt x="2570924" y="244415"/>
                  </a:lnTo>
                  <a:lnTo>
                    <a:pt x="2548051" y="203194"/>
                  </a:lnTo>
                  <a:lnTo>
                    <a:pt x="2518044" y="172112"/>
                  </a:lnTo>
                  <a:lnTo>
                    <a:pt x="2483059" y="152493"/>
                  </a:lnTo>
                  <a:lnTo>
                    <a:pt x="2445252" y="145659"/>
                  </a:lnTo>
                  <a:lnTo>
                    <a:pt x="2654377" y="145659"/>
                  </a:lnTo>
                  <a:lnTo>
                    <a:pt x="2915972" y="746304"/>
                  </a:lnTo>
                  <a:close/>
                </a:path>
                <a:path w="6184900" h="6873875">
                  <a:moveTo>
                    <a:pt x="2441336" y="2409272"/>
                  </a:moveTo>
                  <a:lnTo>
                    <a:pt x="1621822" y="2409272"/>
                  </a:lnTo>
                  <a:lnTo>
                    <a:pt x="1611932" y="2408834"/>
                  </a:lnTo>
                  <a:lnTo>
                    <a:pt x="1602189" y="2407536"/>
                  </a:lnTo>
                  <a:lnTo>
                    <a:pt x="1592618" y="2405397"/>
                  </a:lnTo>
                  <a:lnTo>
                    <a:pt x="1583241" y="2402438"/>
                  </a:lnTo>
                  <a:lnTo>
                    <a:pt x="1556707" y="2387605"/>
                  </a:lnTo>
                  <a:lnTo>
                    <a:pt x="2147461" y="1025306"/>
                  </a:lnTo>
                  <a:lnTo>
                    <a:pt x="2170523" y="977978"/>
                  </a:lnTo>
                  <a:lnTo>
                    <a:pt x="2196752" y="934667"/>
                  </a:lnTo>
                  <a:lnTo>
                    <a:pt x="2225890" y="895599"/>
                  </a:lnTo>
                  <a:lnTo>
                    <a:pt x="2257681" y="861003"/>
                  </a:lnTo>
                  <a:lnTo>
                    <a:pt x="2291867" y="831106"/>
                  </a:lnTo>
                  <a:lnTo>
                    <a:pt x="2328194" y="806135"/>
                  </a:lnTo>
                  <a:lnTo>
                    <a:pt x="2366403" y="786317"/>
                  </a:lnTo>
                  <a:lnTo>
                    <a:pt x="2406238" y="771880"/>
                  </a:lnTo>
                  <a:lnTo>
                    <a:pt x="2447442" y="763051"/>
                  </a:lnTo>
                  <a:lnTo>
                    <a:pt x="2489758" y="760058"/>
                  </a:lnTo>
                  <a:lnTo>
                    <a:pt x="2797001" y="760058"/>
                  </a:lnTo>
                  <a:lnTo>
                    <a:pt x="2977649" y="1174840"/>
                  </a:lnTo>
                  <a:lnTo>
                    <a:pt x="2992583" y="1221499"/>
                  </a:lnTo>
                  <a:lnTo>
                    <a:pt x="2997561" y="1271244"/>
                  </a:lnTo>
                  <a:lnTo>
                    <a:pt x="2992583" y="1320988"/>
                  </a:lnTo>
                  <a:lnTo>
                    <a:pt x="2977649" y="1367647"/>
                  </a:lnTo>
                  <a:lnTo>
                    <a:pt x="2567006" y="2310519"/>
                  </a:lnTo>
                  <a:lnTo>
                    <a:pt x="2544135" y="2351739"/>
                  </a:lnTo>
                  <a:lnTo>
                    <a:pt x="2514128" y="2382820"/>
                  </a:lnTo>
                  <a:lnTo>
                    <a:pt x="2479142" y="2402438"/>
                  </a:lnTo>
                  <a:lnTo>
                    <a:pt x="2441336" y="2409272"/>
                  </a:lnTo>
                  <a:close/>
                </a:path>
                <a:path w="6184900" h="6873875">
                  <a:moveTo>
                    <a:pt x="5694647" y="2554932"/>
                  </a:moveTo>
                  <a:lnTo>
                    <a:pt x="2493783" y="2554932"/>
                  </a:lnTo>
                  <a:lnTo>
                    <a:pt x="2536428" y="2547224"/>
                  </a:lnTo>
                  <a:lnTo>
                    <a:pt x="2575891" y="2525095"/>
                  </a:lnTo>
                  <a:lnTo>
                    <a:pt x="2609738" y="2490036"/>
                  </a:lnTo>
                  <a:lnTo>
                    <a:pt x="2635538" y="2443539"/>
                  </a:lnTo>
                  <a:lnTo>
                    <a:pt x="3098740" y="1379986"/>
                  </a:lnTo>
                  <a:lnTo>
                    <a:pt x="3113115" y="1338272"/>
                  </a:lnTo>
                  <a:lnTo>
                    <a:pt x="3120303" y="1293884"/>
                  </a:lnTo>
                  <a:lnTo>
                    <a:pt x="3120303" y="1248605"/>
                  </a:lnTo>
                  <a:lnTo>
                    <a:pt x="3113115" y="1204216"/>
                  </a:lnTo>
                  <a:lnTo>
                    <a:pt x="3098740" y="1162501"/>
                  </a:lnTo>
                  <a:lnTo>
                    <a:pt x="2923466" y="760058"/>
                  </a:lnTo>
                  <a:lnTo>
                    <a:pt x="4690918" y="760058"/>
                  </a:lnTo>
                  <a:lnTo>
                    <a:pt x="4736613" y="763748"/>
                  </a:lnTo>
                  <a:lnTo>
                    <a:pt x="4781448" y="774612"/>
                  </a:lnTo>
                  <a:lnTo>
                    <a:pt x="4824914" y="792337"/>
                  </a:lnTo>
                  <a:lnTo>
                    <a:pt x="4866501" y="816611"/>
                  </a:lnTo>
                  <a:lnTo>
                    <a:pt x="4905701" y="847122"/>
                  </a:lnTo>
                  <a:lnTo>
                    <a:pt x="4942006" y="883559"/>
                  </a:lnTo>
                  <a:lnTo>
                    <a:pt x="4974906" y="925610"/>
                  </a:lnTo>
                  <a:lnTo>
                    <a:pt x="5003894" y="972963"/>
                  </a:lnTo>
                  <a:lnTo>
                    <a:pt x="5028460" y="1025306"/>
                  </a:lnTo>
                  <a:lnTo>
                    <a:pt x="5694647" y="2554932"/>
                  </a:lnTo>
                  <a:close/>
                </a:path>
                <a:path w="6184900" h="6873875">
                  <a:moveTo>
                    <a:pt x="898283" y="5653127"/>
                  </a:moveTo>
                  <a:lnTo>
                    <a:pt x="363184" y="5653127"/>
                  </a:lnTo>
                  <a:lnTo>
                    <a:pt x="337993" y="5648665"/>
                  </a:lnTo>
                  <a:lnTo>
                    <a:pt x="295413" y="5615560"/>
                  </a:lnTo>
                  <a:lnTo>
                    <a:pt x="13002" y="4973001"/>
                  </a:lnTo>
                  <a:lnTo>
                    <a:pt x="0" y="4910055"/>
                  </a:lnTo>
                  <a:lnTo>
                    <a:pt x="3250" y="4877575"/>
                  </a:lnTo>
                  <a:lnTo>
                    <a:pt x="279973" y="4231465"/>
                  </a:lnTo>
                  <a:lnTo>
                    <a:pt x="315078" y="4184256"/>
                  </a:lnTo>
                  <a:lnTo>
                    <a:pt x="363184" y="4166984"/>
                  </a:lnTo>
                  <a:lnTo>
                    <a:pt x="898283" y="4166984"/>
                  </a:lnTo>
                  <a:lnTo>
                    <a:pt x="945813" y="4184256"/>
                  </a:lnTo>
                  <a:lnTo>
                    <a:pt x="980340" y="4231465"/>
                  </a:lnTo>
                  <a:lnTo>
                    <a:pt x="1248466" y="4847109"/>
                  </a:lnTo>
                  <a:lnTo>
                    <a:pt x="1261469" y="4910055"/>
                  </a:lnTo>
                  <a:lnTo>
                    <a:pt x="1258218" y="4942536"/>
                  </a:lnTo>
                  <a:lnTo>
                    <a:pt x="980340" y="5588645"/>
                  </a:lnTo>
                  <a:lnTo>
                    <a:pt x="945813" y="5635855"/>
                  </a:lnTo>
                  <a:lnTo>
                    <a:pt x="898283" y="5653127"/>
                  </a:lnTo>
                  <a:close/>
                </a:path>
              </a:pathLst>
            </a:custGeom>
            <a:solidFill>
              <a:srgbClr val="80808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43999" y="2286000"/>
              <a:ext cx="4267200" cy="4572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870200" y="304835"/>
            <a:ext cx="9234170" cy="135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900" spc="-985" dirty="0">
                <a:solidFill>
                  <a:srgbClr val="1F497D"/>
                </a:solidFill>
              </a:rPr>
              <a:t>S</a:t>
            </a:r>
            <a:r>
              <a:rPr sz="5900" spc="-1115" dirty="0">
                <a:solidFill>
                  <a:srgbClr val="1F497D"/>
                </a:solidFill>
              </a:rPr>
              <a:t>M</a:t>
            </a:r>
            <a:r>
              <a:rPr sz="5900" spc="-975" dirty="0">
                <a:solidFill>
                  <a:srgbClr val="1F497D"/>
                </a:solidFill>
              </a:rPr>
              <a:t>A</a:t>
            </a:r>
            <a:r>
              <a:rPr sz="5900" spc="-915" dirty="0">
                <a:solidFill>
                  <a:srgbClr val="1F497D"/>
                </a:solidFill>
              </a:rPr>
              <a:t>R</a:t>
            </a:r>
            <a:r>
              <a:rPr sz="5900" spc="-535" dirty="0">
                <a:solidFill>
                  <a:srgbClr val="1F497D"/>
                </a:solidFill>
              </a:rPr>
              <a:t>T</a:t>
            </a:r>
            <a:r>
              <a:rPr sz="5900" spc="-910" dirty="0">
                <a:solidFill>
                  <a:srgbClr val="1F497D"/>
                </a:solidFill>
              </a:rPr>
              <a:t> </a:t>
            </a:r>
            <a:r>
              <a:rPr sz="5900" spc="-705" dirty="0">
                <a:solidFill>
                  <a:srgbClr val="1F497D"/>
                </a:solidFill>
              </a:rPr>
              <a:t>INDIA</a:t>
            </a:r>
            <a:r>
              <a:rPr sz="5900" spc="-880" dirty="0">
                <a:solidFill>
                  <a:srgbClr val="1F497D"/>
                </a:solidFill>
              </a:rPr>
              <a:t> </a:t>
            </a:r>
            <a:r>
              <a:rPr sz="5900" spc="-1015" dirty="0">
                <a:solidFill>
                  <a:srgbClr val="1F497D"/>
                </a:solidFill>
              </a:rPr>
              <a:t>H</a:t>
            </a:r>
            <a:r>
              <a:rPr sz="5900" spc="-1055" dirty="0">
                <a:solidFill>
                  <a:srgbClr val="1F497D"/>
                </a:solidFill>
              </a:rPr>
              <a:t>A</a:t>
            </a:r>
            <a:r>
              <a:rPr sz="5900" spc="-1200" dirty="0">
                <a:solidFill>
                  <a:srgbClr val="1F497D"/>
                </a:solidFill>
              </a:rPr>
              <a:t>C</a:t>
            </a:r>
            <a:r>
              <a:rPr sz="5900" spc="-1085" dirty="0">
                <a:solidFill>
                  <a:srgbClr val="1F497D"/>
                </a:solidFill>
              </a:rPr>
              <a:t>K</a:t>
            </a:r>
            <a:r>
              <a:rPr sz="5900" spc="-1055" dirty="0">
                <a:solidFill>
                  <a:srgbClr val="1F497D"/>
                </a:solidFill>
              </a:rPr>
              <a:t>A</a:t>
            </a:r>
            <a:r>
              <a:rPr sz="5900" spc="-1040" dirty="0">
                <a:solidFill>
                  <a:srgbClr val="1F497D"/>
                </a:solidFill>
              </a:rPr>
              <a:t>T</a:t>
            </a:r>
            <a:r>
              <a:rPr sz="5900" spc="-1130" dirty="0">
                <a:solidFill>
                  <a:srgbClr val="1F497D"/>
                </a:solidFill>
              </a:rPr>
              <a:t>H</a:t>
            </a:r>
            <a:r>
              <a:rPr sz="5900" spc="-1065" dirty="0">
                <a:solidFill>
                  <a:srgbClr val="1F497D"/>
                </a:solidFill>
              </a:rPr>
              <a:t>O</a:t>
            </a:r>
            <a:r>
              <a:rPr sz="5900" spc="-615" dirty="0">
                <a:solidFill>
                  <a:srgbClr val="1F497D"/>
                </a:solidFill>
              </a:rPr>
              <a:t>N</a:t>
            </a:r>
            <a:r>
              <a:rPr sz="5900" spc="-860" dirty="0">
                <a:solidFill>
                  <a:srgbClr val="1F497D"/>
                </a:solidFill>
              </a:rPr>
              <a:t> </a:t>
            </a:r>
            <a:r>
              <a:rPr sz="5900" spc="-545" dirty="0">
                <a:solidFill>
                  <a:srgbClr val="1F497D"/>
                </a:solidFill>
              </a:rPr>
              <a:t>2026</a:t>
            </a:r>
            <a:endParaRPr sz="5900"/>
          </a:p>
        </p:txBody>
      </p:sp>
      <p:sp>
        <p:nvSpPr>
          <p:cNvPr id="6" name="object 6"/>
          <p:cNvSpPr txBox="1"/>
          <p:nvPr/>
        </p:nvSpPr>
        <p:spPr>
          <a:xfrm>
            <a:off x="203200" y="1600200"/>
            <a:ext cx="7790815" cy="413766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5448300">
              <a:lnSpc>
                <a:spcPct val="100000"/>
              </a:lnSpc>
              <a:spcBef>
                <a:spcPts val="95"/>
              </a:spcBef>
            </a:pPr>
            <a:endParaRPr sz="45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580"/>
              </a:spcBef>
            </a:pPr>
            <a:endParaRPr sz="4050">
              <a:latin typeface="Arial" panose="020B0604020202020204"/>
              <a:cs typeface="Arial" panose="020B0604020202020204"/>
            </a:endParaRPr>
          </a:p>
          <a:p>
            <a:pPr marL="418465" indent="-405765">
              <a:lnSpc>
                <a:spcPct val="100000"/>
              </a:lnSpc>
              <a:buSzPct val="86000"/>
              <a:buFont typeface="Arial" panose="020B0604020202020204"/>
              <a:buChar char="•"/>
              <a:tabLst>
                <a:tab pos="418465" algn="l"/>
              </a:tabLst>
            </a:pPr>
            <a:r>
              <a:rPr sz="2400" b="1" spc="-320" dirty="0">
                <a:latin typeface="Arial" panose="020B0604020202020204"/>
                <a:cs typeface="Arial" panose="020B0604020202020204"/>
              </a:rPr>
              <a:t>Problem</a:t>
            </a:r>
            <a:r>
              <a:rPr sz="2400" b="1" spc="-35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80" dirty="0">
                <a:latin typeface="Arial" panose="020B0604020202020204"/>
                <a:cs typeface="Arial" panose="020B0604020202020204"/>
              </a:rPr>
              <a:t>Statement</a:t>
            </a:r>
            <a:r>
              <a:rPr sz="2400" b="1" spc="-459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90" dirty="0">
                <a:latin typeface="Arial" panose="020B0604020202020204"/>
                <a:cs typeface="Arial" panose="020B0604020202020204"/>
              </a:rPr>
              <a:t>ID</a:t>
            </a:r>
            <a:r>
              <a:rPr sz="2400" b="1" spc="-35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270" dirty="0">
                <a:latin typeface="Arial" panose="020B0604020202020204"/>
                <a:cs typeface="Arial" panose="020B0604020202020204"/>
              </a:rPr>
              <a:t>–</a:t>
            </a:r>
            <a:r>
              <a:rPr lang="en-US" altLang="en-US" sz="2400" b="1" spc="270" dirty="0">
                <a:latin typeface="Arial" panose="020B0604020202020204"/>
                <a:cs typeface="Arial" panose="020B0604020202020204"/>
              </a:rPr>
              <a:t>SIH26129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418465" indent="-405765">
              <a:lnSpc>
                <a:spcPct val="100000"/>
              </a:lnSpc>
              <a:spcBef>
                <a:spcPts val="3340"/>
              </a:spcBef>
              <a:buSzPct val="86000"/>
              <a:buFont typeface="Arial" panose="020B0604020202020204"/>
              <a:buChar char="•"/>
              <a:tabLst>
                <a:tab pos="418465" algn="l"/>
              </a:tabLst>
            </a:pPr>
            <a:r>
              <a:rPr sz="2400" b="1" spc="-320" dirty="0">
                <a:latin typeface="Arial" panose="020B0604020202020204"/>
                <a:cs typeface="Arial" panose="020B0604020202020204"/>
              </a:rPr>
              <a:t>Problem</a:t>
            </a:r>
            <a:r>
              <a:rPr sz="2400" b="1" spc="-34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80" dirty="0">
                <a:latin typeface="Arial" panose="020B0604020202020204"/>
                <a:cs typeface="Arial" panose="020B0604020202020204"/>
              </a:rPr>
              <a:t>Statement</a:t>
            </a:r>
            <a:r>
              <a:rPr sz="2400" b="1" spc="-45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2400" b="1" spc="-45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Title-</a:t>
            </a:r>
            <a:r>
              <a:rPr lang="en-US" altLang="en-US" sz="2400" b="1" spc="-10" dirty="0">
                <a:latin typeface="Arial" panose="020B0604020202020204"/>
                <a:cs typeface="Arial" panose="020B0604020202020204"/>
              </a:rPr>
              <a:t>  </a:t>
            </a:r>
            <a:r>
              <a:rPr lang="en-US" altLang="en-US" sz="2400" b="1" spc="-10" dirty="0">
                <a:latin typeface="Arial" panose="020B0604020202020204"/>
                <a:cs typeface="Arial" panose="020B0604020202020204"/>
              </a:rPr>
              <a:t>System integration and interoperability among government digital platforms,resulting in fragmented service delivery</a:t>
            </a:r>
            <a:endParaRPr lang="en-US" altLang="en-US" sz="2400" b="1" spc="-10" dirty="0">
              <a:latin typeface="Arial" panose="020B0604020202020204"/>
              <a:cs typeface="Arial" panose="020B0604020202020204"/>
            </a:endParaRPr>
          </a:p>
          <a:p>
            <a:pPr marL="418465" indent="-405765">
              <a:lnSpc>
                <a:spcPct val="100000"/>
              </a:lnSpc>
              <a:spcBef>
                <a:spcPts val="3340"/>
              </a:spcBef>
              <a:buSzPct val="86000"/>
              <a:buFont typeface="Arial" panose="020B0604020202020204"/>
              <a:buChar char="•"/>
              <a:tabLst>
                <a:tab pos="418465" algn="l"/>
              </a:tabLst>
            </a:pPr>
            <a:r>
              <a:rPr sz="2400" b="1" spc="-270" dirty="0">
                <a:latin typeface="Arial" panose="020B0604020202020204"/>
                <a:cs typeface="Arial" panose="020B0604020202020204"/>
              </a:rPr>
              <a:t>Theme-</a:t>
            </a:r>
            <a:r>
              <a:rPr lang="en-US" altLang="en-US" sz="2400" b="1" spc="-270" dirty="0">
                <a:latin typeface="Arial" panose="020B0604020202020204"/>
                <a:cs typeface="Arial" panose="020B0604020202020204"/>
              </a:rPr>
              <a:t>  </a:t>
            </a:r>
            <a:r>
              <a:rPr lang="en-US" altLang="en-US" sz="2400" b="1" spc="-270" dirty="0">
                <a:latin typeface="Arial" panose="020B0604020202020204"/>
                <a:cs typeface="Arial" panose="020B0604020202020204"/>
              </a:rPr>
              <a:t>Miscellaneous</a:t>
            </a:r>
            <a:endParaRPr lang="en-US" altLang="en-US" sz="2400" b="1" spc="-270" dirty="0">
              <a:latin typeface="Arial" panose="020B0604020202020204"/>
              <a:cs typeface="Arial" panose="020B0604020202020204"/>
            </a:endParaRPr>
          </a:p>
          <a:p>
            <a:pPr marL="418465" indent="-405765">
              <a:lnSpc>
                <a:spcPct val="100000"/>
              </a:lnSpc>
              <a:spcBef>
                <a:spcPts val="3340"/>
              </a:spcBef>
              <a:buSzPct val="86000"/>
              <a:buFont typeface="Arial" panose="020B0604020202020204"/>
              <a:buChar char="•"/>
              <a:tabLst>
                <a:tab pos="418465" algn="l"/>
              </a:tabLst>
            </a:pPr>
            <a:r>
              <a:rPr sz="2400" b="1" spc="-400" dirty="0">
                <a:latin typeface="Arial" panose="020B0604020202020204"/>
                <a:cs typeface="Arial" panose="020B0604020202020204"/>
              </a:rPr>
              <a:t>PS</a:t>
            </a:r>
            <a:r>
              <a:rPr sz="2400" b="1" spc="-34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95" dirty="0">
                <a:latin typeface="Arial" panose="020B0604020202020204"/>
                <a:cs typeface="Arial" panose="020B0604020202020204"/>
              </a:rPr>
              <a:t>Category-</a:t>
            </a:r>
            <a:r>
              <a:rPr sz="2400" b="1" spc="-33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2400" b="1" spc="-33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95" dirty="0">
                <a:latin typeface="Arial" panose="020B0604020202020204"/>
                <a:cs typeface="Arial" panose="020B0604020202020204"/>
              </a:rPr>
              <a:t>Software</a:t>
            </a:r>
            <a:endParaRPr lang="en-US" altLang="en-US" sz="2400" b="1" spc="-295" dirty="0">
              <a:latin typeface="Arial" panose="020B0604020202020204"/>
              <a:cs typeface="Arial" panose="020B0604020202020204"/>
            </a:endParaRPr>
          </a:p>
          <a:p>
            <a:pPr marL="418465" indent="-405765">
              <a:lnSpc>
                <a:spcPct val="100000"/>
              </a:lnSpc>
              <a:spcBef>
                <a:spcPts val="3340"/>
              </a:spcBef>
              <a:buSzPct val="86000"/>
              <a:buFont typeface="Arial" panose="020B0604020202020204"/>
              <a:buChar char="•"/>
              <a:tabLst>
                <a:tab pos="418465" algn="l"/>
              </a:tabLst>
            </a:pPr>
            <a:r>
              <a:rPr sz="2400" b="1" spc="-320" dirty="0">
                <a:latin typeface="Arial" panose="020B0604020202020204"/>
                <a:cs typeface="Arial" panose="020B0604020202020204"/>
              </a:rPr>
              <a:t>Team</a:t>
            </a:r>
            <a:r>
              <a:rPr sz="2400" b="1" spc="-35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ID-</a:t>
            </a:r>
            <a:r>
              <a:rPr lang="en-US" altLang="en-US" sz="2400" b="1" spc="-25" dirty="0">
                <a:latin typeface="Arial" panose="020B0604020202020204"/>
                <a:cs typeface="Arial" panose="020B0604020202020204"/>
              </a:rPr>
              <a:t> 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418465" indent="-405765">
              <a:lnSpc>
                <a:spcPct val="100000"/>
              </a:lnSpc>
              <a:spcBef>
                <a:spcPts val="3340"/>
              </a:spcBef>
              <a:buSzPct val="86000"/>
              <a:buFont typeface="Arial" panose="020B0604020202020204"/>
              <a:buChar char="•"/>
              <a:tabLst>
                <a:tab pos="418465" algn="l"/>
              </a:tabLst>
            </a:pPr>
            <a:r>
              <a:rPr sz="2400" b="1" spc="-320" dirty="0">
                <a:latin typeface="Arial" panose="020B0604020202020204"/>
                <a:cs typeface="Arial" panose="020B0604020202020204"/>
              </a:rPr>
              <a:t>Team</a:t>
            </a:r>
            <a:r>
              <a:rPr sz="2400" b="1" spc="-34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330" dirty="0">
                <a:latin typeface="Arial" panose="020B0604020202020204"/>
                <a:cs typeface="Arial" panose="020B0604020202020204"/>
              </a:rPr>
              <a:t>Name</a:t>
            </a:r>
            <a:r>
              <a:rPr sz="2400" b="1" spc="-39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280" dirty="0">
                <a:latin typeface="Arial" panose="020B0604020202020204"/>
                <a:cs typeface="Arial" panose="020B0604020202020204"/>
              </a:rPr>
              <a:t>(Registered</a:t>
            </a:r>
            <a:r>
              <a:rPr sz="2400" b="1" spc="-37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385" dirty="0">
                <a:latin typeface="Arial" panose="020B0604020202020204"/>
                <a:cs typeface="Arial" panose="020B0604020202020204"/>
              </a:rPr>
              <a:t>on</a:t>
            </a:r>
            <a:r>
              <a:rPr sz="2400" b="1" spc="-36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65" dirty="0">
                <a:latin typeface="Arial" panose="020B0604020202020204"/>
                <a:cs typeface="Arial" panose="020B0604020202020204"/>
              </a:rPr>
              <a:t>portal)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346200" y="1447800"/>
            <a:ext cx="130746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/>
              <a:t>System integration and interoperability among government digital platforms,resulting in fragmented service delivery</a:t>
            </a:r>
            <a:endParaRPr lang="en-US" altLang="en-US" sz="2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635000" y="-228600"/>
            <a:ext cx="14684375" cy="2700020"/>
          </a:xfrm>
          <a:prstGeom prst="rect">
            <a:avLst/>
          </a:prstGeom>
        </p:spPr>
        <p:txBody>
          <a:bodyPr vert="horz" wrap="square" lIns="0" tIns="574675" rIns="0" bIns="0" rtlCol="0">
            <a:noAutofit/>
          </a:bodyPr>
          <a:lstStyle/>
          <a:p>
            <a:pPr marL="3340100">
              <a:lnSpc>
                <a:spcPct val="100000"/>
              </a:lnSpc>
              <a:spcBef>
                <a:spcPts val="125"/>
              </a:spcBef>
            </a:pPr>
            <a:r>
              <a:rPr lang="en-US" altLang="en-US" sz="3200">
                <a:sym typeface="+mn-ea"/>
              </a:rPr>
              <a:t>System integration and interoperability among government digital platforms,resulting in fragmented service delivery</a:t>
            </a:r>
            <a:endParaRPr sz="3200" spc="-525" dirty="0"/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4200" y="609600"/>
            <a:ext cx="1632585" cy="4159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88900" algn="just">
              <a:lnSpc>
                <a:spcPts val="2800"/>
              </a:lnSpc>
              <a:spcBef>
                <a:spcPts val="450"/>
              </a:spcBef>
            </a:pPr>
            <a:r>
              <a:rPr lang="en-US" altLang="en-US" sz="2550">
                <a:latin typeface="Arial" panose="020B0604020202020204"/>
                <a:cs typeface="Arial" panose="020B0604020202020204"/>
              </a:rPr>
              <a:t>VisionX</a:t>
            </a:r>
            <a:endParaRPr lang="en-US" altLang="en-US" sz="25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9" name="Text Box 8"/>
          <p:cNvSpPr txBox="1"/>
          <p:nvPr/>
        </p:nvSpPr>
        <p:spPr>
          <a:xfrm>
            <a:off x="279400" y="2057400"/>
            <a:ext cx="9157970" cy="52197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800">
                <a:latin typeface="Arial" panose="020B0604020202020204" pitchFamily="34" charset="0"/>
                <a:ea typeface="Microsoft YaHei" panose="020B0503020204020204" charset="-122"/>
              </a:rPr>
              <a:t>Proposed Solution &amp; How the address the problem</a:t>
            </a:r>
            <a:endParaRPr lang="en-US" sz="2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03200" y="6705600"/>
            <a:ext cx="5418455" cy="52197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2800"/>
              <a:t>Innovative and Uniqueness</a:t>
            </a:r>
            <a:endParaRPr lang="en-US" sz="2800"/>
          </a:p>
        </p:txBody>
      </p:sp>
      <p:sp>
        <p:nvSpPr>
          <p:cNvPr id="12" name="Text Box 11"/>
          <p:cNvSpPr txBox="1"/>
          <p:nvPr/>
        </p:nvSpPr>
        <p:spPr>
          <a:xfrm>
            <a:off x="203200" y="7308215"/>
            <a:ext cx="15347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Apply Once →</a:t>
            </a:r>
            <a:r>
              <a:rPr lang="zh-CN" altLang="en-US" sz="2400"/>
              <a:t> </a:t>
            </a:r>
            <a:r>
              <a:rPr lang="en-US" altLang="en-US" sz="2400"/>
              <a:t>Protocol Translation → Consent →Failure Recovery → Unified Tracking</a:t>
            </a:r>
            <a:endParaRPr lang="en-US" altLang="en-US" sz="2400"/>
          </a:p>
        </p:txBody>
      </p:sp>
      <p:sp>
        <p:nvSpPr>
          <p:cNvPr id="13" name="Text Box 12"/>
          <p:cNvSpPr txBox="1"/>
          <p:nvPr/>
        </p:nvSpPr>
        <p:spPr>
          <a:xfrm>
            <a:off x="6908800" y="2743200"/>
            <a:ext cx="15161260" cy="4916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→ Enter details only once.</a:t>
            </a:r>
            <a:endParaRPr lang="en-US" altLang="en-US" sz="2000"/>
          </a:p>
          <a:p>
            <a:pPr algn="just"/>
            <a:r>
              <a:rPr lang="en-US" altLang="en-US" sz="2000"/>
              <a:t>→ One login for multiple government services.</a:t>
            </a:r>
            <a:endParaRPr lang="en-US" altLang="en-US" sz="2000"/>
          </a:p>
          <a:p>
            <a:pPr algn="just"/>
            <a:r>
              <a:rPr lang="en-US" altLang="en-US" sz="2000"/>
              <a:t>→ Converts different department formats into one common format.</a:t>
            </a:r>
            <a:endParaRPr lang="en-US" altLang="en-US" sz="2000"/>
          </a:p>
          <a:p>
            <a:pPr algn="just"/>
            <a:r>
              <a:rPr lang="en-US" altLang="en-US" sz="2000"/>
              <a:t>→ Connects REST, SOAP/XML &amp; legacy systems through adapters.</a:t>
            </a:r>
            <a:endParaRPr lang="en-US" altLang="en-US" sz="2000"/>
          </a:p>
          <a:p>
            <a:pPr algn="just"/>
            <a:r>
              <a:rPr lang="en-US" altLang="en-US" sz="2000"/>
              <a:t>→ Identifies existing citizen records and avoids duplication.</a:t>
            </a:r>
            <a:endParaRPr lang="en-US" altLang="en-US" sz="2000"/>
          </a:p>
          <a:p>
            <a:pPr algn="just"/>
            <a:r>
              <a:rPr lang="en-US" altLang="en-US" sz="2000"/>
              <a:t>→ Data is shared only with authorized departments.</a:t>
            </a:r>
            <a:endParaRPr lang="en-US" altLang="en-US" sz="2000"/>
          </a:p>
          <a:p>
            <a:pPr algn="just"/>
            <a:r>
              <a:rPr lang="en-US" altLang="en-US" sz="2000"/>
              <a:t>→ Application automatically moves between required departments.</a:t>
            </a:r>
            <a:endParaRPr lang="en-US" altLang="en-US" sz="2000"/>
          </a:p>
          <a:p>
            <a:pPr algn="just"/>
            <a:r>
              <a:rPr lang="en-US" altLang="en-US" sz="2000"/>
              <a:t>→ Failed requests are queued and retried instead of making citizens reapply.</a:t>
            </a:r>
            <a:endParaRPr lang="en-US" altLang="en-US" sz="2000"/>
          </a:p>
          <a:p>
            <a:pPr algn="just"/>
            <a:r>
              <a:rPr lang="en-US" altLang="en-US" sz="2000"/>
              <a:t>→ One Application ID shows the complete service journey.</a:t>
            </a:r>
            <a:endParaRPr lang="en-US" altLang="en-US" sz="2000"/>
          </a:p>
          <a:p>
            <a:pPr algn="just"/>
            <a:r>
              <a:rPr lang="en-US" altLang="en-US" sz="2000"/>
              <a:t>→ Every important transaction is recorded and traceable.</a:t>
            </a:r>
            <a:endParaRPr lang="en-US" altLang="en-US" sz="2000"/>
          </a:p>
          <a:p>
            <a:pPr algn="just"/>
            <a:r>
              <a:rPr lang="en-US" altLang="en-US" sz="2000"/>
              <a:t>→ Cryptographic ledger helps verify important records.</a:t>
            </a:r>
            <a:endParaRPr lang="en-US" altLang="en-US" sz="2000"/>
          </a:p>
          <a:p>
            <a:pPr algn="just"/>
            <a:r>
              <a:rPr lang="en-US" altLang="en-US" sz="2000"/>
              <a:t>→ Departments can monitor applications, services and failures.</a:t>
            </a:r>
            <a:endParaRPr lang="en-US" altLang="en-US" sz="20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3008630"/>
            <a:ext cx="5356860" cy="2704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4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125"/>
              </a:spcBef>
            </a:pPr>
            <a:r>
              <a:rPr spc="-620" dirty="0"/>
              <a:t>TECHNICAL</a:t>
            </a:r>
            <a:r>
              <a:rPr spc="-365" dirty="0"/>
              <a:t> </a:t>
            </a:r>
            <a:r>
              <a:rPr spc="-690" dirty="0"/>
              <a:t>APPROACH</a:t>
            </a:r>
            <a:endParaRPr spc="-690" dirty="0"/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0400" y="609600"/>
            <a:ext cx="1827530" cy="4159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88900" algn="just">
              <a:lnSpc>
                <a:spcPts val="2800"/>
              </a:lnSpc>
              <a:spcBef>
                <a:spcPts val="450"/>
              </a:spcBef>
            </a:pPr>
            <a:r>
              <a:rPr lang="en-US" altLang="en-US" sz="2550">
                <a:latin typeface="Arial" panose="020B0604020202020204"/>
                <a:cs typeface="Arial" panose="020B0604020202020204"/>
              </a:rPr>
              <a:t>VisionX</a:t>
            </a:r>
            <a:endParaRPr lang="en-US" altLang="en-US" sz="25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pic>
        <p:nvPicPr>
          <p:cNvPr id="14" name="Picture 13" descr="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020570"/>
            <a:ext cx="14968220" cy="239903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55600" y="5314950"/>
            <a:ext cx="3727450" cy="2536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marR="11430" indent="-285750" algn="just">
              <a:lnSpc>
                <a:spcPct val="100000"/>
              </a:lnSpc>
              <a:spcBef>
                <a:spcPts val="615"/>
              </a:spcBef>
              <a:buFont typeface="Wingdings" panose="05000000000000000000" charset="0"/>
              <a:buChar char="Ø"/>
              <a:tabLst>
                <a:tab pos="469900" algn="l"/>
                <a:tab pos="481965" algn="l"/>
              </a:tabLst>
            </a:pPr>
            <a:r>
              <a:rPr lang="en-US" altLang="en-US">
                <a:latin typeface="Arial" panose="020B0604020202020204"/>
                <a:cs typeface="Arial" panose="020B0604020202020204"/>
                <a:sym typeface="+mn-ea"/>
              </a:rPr>
              <a:t>HTML, CSS, JavaScript</a:t>
            </a:r>
            <a:endParaRPr lang="en-US" altLang="en-US">
              <a:latin typeface="Arial" panose="020B0604020202020204"/>
              <a:cs typeface="Arial" panose="020B0604020202020204"/>
            </a:endParaRPr>
          </a:p>
          <a:p>
            <a:pPr marL="171450" marR="11430" indent="-171450" algn="just">
              <a:lnSpc>
                <a:spcPct val="100000"/>
              </a:lnSpc>
              <a:spcBef>
                <a:spcPts val="615"/>
              </a:spcBef>
              <a:buFont typeface="Wingdings" panose="05000000000000000000" charset="0"/>
              <a:buChar char="Ø"/>
              <a:tabLst>
                <a:tab pos="469900" algn="l"/>
                <a:tab pos="481965" algn="l"/>
              </a:tabLst>
            </a:pPr>
            <a:r>
              <a:rPr lang="en-US" altLang="en-US">
                <a:latin typeface="Arial" panose="020B0604020202020204"/>
                <a:cs typeface="Arial" panose="020B0604020202020204"/>
                <a:sym typeface="+mn-ea"/>
              </a:rPr>
              <a:t> Python, Flask</a:t>
            </a:r>
            <a:endParaRPr lang="en-US" altLang="en-US">
              <a:latin typeface="Arial" panose="020B0604020202020204"/>
              <a:cs typeface="Arial" panose="020B0604020202020204"/>
            </a:endParaRPr>
          </a:p>
          <a:p>
            <a:pPr marL="171450" marR="11430" indent="-171450" algn="just">
              <a:lnSpc>
                <a:spcPct val="100000"/>
              </a:lnSpc>
              <a:spcBef>
                <a:spcPts val="615"/>
              </a:spcBef>
              <a:buFont typeface="Wingdings" panose="05000000000000000000" charset="0"/>
              <a:buChar char="Ø"/>
              <a:tabLst>
                <a:tab pos="469900" algn="l"/>
                <a:tab pos="481965" algn="l"/>
              </a:tabLst>
            </a:pPr>
            <a:r>
              <a:rPr lang="en-US" altLang="en-US">
                <a:latin typeface="Arial" panose="020B0604020202020204"/>
                <a:cs typeface="Arial" panose="020B0604020202020204"/>
                <a:sym typeface="+mn-ea"/>
              </a:rPr>
              <a:t>SQLite</a:t>
            </a:r>
            <a:endParaRPr lang="en-US" altLang="en-US">
              <a:latin typeface="Arial" panose="020B0604020202020204"/>
              <a:cs typeface="Arial" panose="020B0604020202020204"/>
            </a:endParaRPr>
          </a:p>
          <a:p>
            <a:pPr marL="171450" marR="11430" indent="-171450" algn="just">
              <a:lnSpc>
                <a:spcPct val="100000"/>
              </a:lnSpc>
              <a:spcBef>
                <a:spcPts val="615"/>
              </a:spcBef>
              <a:buFont typeface="Wingdings" panose="05000000000000000000" charset="0"/>
              <a:buChar char="Ø"/>
              <a:tabLst>
                <a:tab pos="469900" algn="l"/>
                <a:tab pos="481965" algn="l"/>
              </a:tabLst>
            </a:pPr>
            <a:r>
              <a:rPr lang="en-US" altLang="en-US">
                <a:latin typeface="Arial" panose="020B0604020202020204"/>
                <a:cs typeface="Arial" panose="020B0604020202020204"/>
                <a:sym typeface="+mn-ea"/>
              </a:rPr>
              <a:t>REST API, SOAP/XML</a:t>
            </a:r>
            <a:endParaRPr lang="en-US" altLang="en-US">
              <a:latin typeface="Arial" panose="020B0604020202020204"/>
              <a:cs typeface="Arial" panose="020B0604020202020204"/>
            </a:endParaRPr>
          </a:p>
          <a:p>
            <a:pPr marL="171450" marR="11430" indent="-171450" algn="just">
              <a:lnSpc>
                <a:spcPct val="100000"/>
              </a:lnSpc>
              <a:spcBef>
                <a:spcPts val="615"/>
              </a:spcBef>
              <a:buFont typeface="Wingdings" panose="05000000000000000000" charset="0"/>
              <a:buChar char="Ø"/>
              <a:tabLst>
                <a:tab pos="469900" algn="l"/>
                <a:tab pos="481965" algn="l"/>
              </a:tabLst>
            </a:pPr>
            <a:r>
              <a:rPr lang="en-US" altLang="en-US">
                <a:latin typeface="Arial" panose="020B0604020202020204"/>
                <a:cs typeface="Arial" panose="020B0604020202020204"/>
                <a:sym typeface="+mn-ea"/>
              </a:rPr>
              <a:t>JWT, RBAC, SHA-256</a:t>
            </a:r>
            <a:endParaRPr lang="en-US" altLang="en-US">
              <a:latin typeface="Arial" panose="020B0604020202020204"/>
              <a:cs typeface="Arial" panose="020B0604020202020204"/>
            </a:endParaRPr>
          </a:p>
          <a:p>
            <a:pPr marL="171450" marR="11430" indent="-171450" algn="just">
              <a:lnSpc>
                <a:spcPct val="100000"/>
              </a:lnSpc>
              <a:spcBef>
                <a:spcPts val="615"/>
              </a:spcBef>
              <a:buFont typeface="Wingdings" panose="05000000000000000000" charset="0"/>
              <a:buChar char="Ø"/>
              <a:tabLst>
                <a:tab pos="469900" algn="l"/>
                <a:tab pos="481965" algn="l"/>
              </a:tabLst>
            </a:pPr>
            <a:endParaRPr lang="en-US" altLang="en-US">
              <a:latin typeface="Arial" panose="020B0604020202020204"/>
              <a:cs typeface="Arial" panose="020B0604020202020204"/>
            </a:endParaRPr>
          </a:p>
          <a:p>
            <a:pPr marL="171450" marR="11430" indent="-171450">
              <a:lnSpc>
                <a:spcPct val="100000"/>
              </a:lnSpc>
              <a:spcBef>
                <a:spcPts val="615"/>
              </a:spcBef>
              <a:buFont typeface="Wingdings" panose="05000000000000000000" charset="0"/>
              <a:buChar char="Ø"/>
              <a:tabLst>
                <a:tab pos="469900" algn="l"/>
                <a:tab pos="481965" algn="l"/>
              </a:tabLst>
            </a:pPr>
            <a:endParaRPr lang="en-US" altLang="en-US">
              <a:latin typeface="Arial" panose="020B0604020202020204"/>
              <a:cs typeface="Arial" panose="020B0604020202020204"/>
            </a:endParaRPr>
          </a:p>
          <a:p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508000" y="4953000"/>
            <a:ext cx="2225675" cy="42291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>
            <a:noAutofit/>
          </a:bodyPr>
          <a:p>
            <a:r>
              <a:rPr lang="en-US"/>
              <a:t>Technologies Used: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699000" y="5486400"/>
            <a:ext cx="10915015" cy="19380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Citizen → SSO Login → Unified Application → Data Standardization → API </a:t>
            </a:r>
            <a:endParaRPr lang="en-US" altLang="en-US" sz="2400">
              <a:latin typeface="Arial" panose="020B0604020202020204"/>
              <a:cs typeface="Arial" panose="020B0604020202020204"/>
              <a:sym typeface="+mn-ea"/>
            </a:endParaRPr>
          </a:p>
          <a:p>
            <a:endParaRPr lang="en-US" altLang="en-US" sz="2400">
              <a:latin typeface="Arial" panose="020B0604020202020204"/>
              <a:cs typeface="Arial" panose="020B0604020202020204"/>
              <a:sym typeface="+mn-ea"/>
            </a:endParaRPr>
          </a:p>
          <a:p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Gateway → Workflow Engine → Government Departments → 360° Tracking </a:t>
            </a:r>
            <a:endParaRPr lang="en-US" altLang="en-US" sz="2400">
              <a:latin typeface="Arial" panose="020B0604020202020204"/>
              <a:cs typeface="Arial" panose="020B0604020202020204"/>
              <a:sym typeface="+mn-ea"/>
            </a:endParaRPr>
          </a:p>
          <a:p>
            <a:endParaRPr lang="en-US" altLang="en-US" sz="2400">
              <a:latin typeface="Arial" panose="020B0604020202020204"/>
              <a:cs typeface="Arial" panose="020B0604020202020204"/>
              <a:sym typeface="+mn-ea"/>
            </a:endParaRPr>
          </a:p>
          <a:p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→ Service Delivery</a:t>
            </a:r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/>
          <p:nvPr/>
        </p:nvPicPr>
        <p:blipFill>
          <a:blip r:embed="rId1"/>
          <a:stretch>
            <a:fillRect/>
          </a:stretch>
        </p:blipFill>
        <p:spPr>
          <a:xfrm>
            <a:off x="6375400" y="1524000"/>
            <a:ext cx="9791700" cy="5642610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4" rIns="0" bIns="0" rtlCol="0">
            <a:spAutoFit/>
          </a:bodyPr>
          <a:lstStyle/>
          <a:p>
            <a:pPr marL="1752600">
              <a:lnSpc>
                <a:spcPct val="100000"/>
              </a:lnSpc>
              <a:spcBef>
                <a:spcPts val="125"/>
              </a:spcBef>
            </a:pPr>
            <a:r>
              <a:rPr spc="-545" dirty="0"/>
              <a:t>FEASIBILITY</a:t>
            </a:r>
            <a:r>
              <a:rPr spc="-535" dirty="0"/>
              <a:t> </a:t>
            </a:r>
            <a:r>
              <a:rPr spc="-650" dirty="0"/>
              <a:t>AND</a:t>
            </a:r>
            <a:r>
              <a:rPr spc="-360" dirty="0"/>
              <a:t> </a:t>
            </a:r>
            <a:r>
              <a:rPr spc="-495" dirty="0"/>
              <a:t>VIABILITY</a:t>
            </a:r>
            <a:endParaRPr spc="-495" dirty="0"/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0400" y="609600"/>
            <a:ext cx="1378585" cy="4159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88900" algn="just">
              <a:lnSpc>
                <a:spcPts val="2800"/>
              </a:lnSpc>
              <a:spcBef>
                <a:spcPts val="450"/>
              </a:spcBef>
            </a:pPr>
            <a:r>
              <a:rPr lang="en-US" altLang="en-US" sz="2550">
                <a:latin typeface="Arial" panose="020B0604020202020204"/>
                <a:cs typeface="Arial" panose="020B0604020202020204"/>
              </a:rPr>
              <a:t>VisionX</a:t>
            </a:r>
            <a:endParaRPr lang="en-US" altLang="en-US" sz="25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9" name="Text Box 8"/>
          <p:cNvSpPr txBox="1"/>
          <p:nvPr/>
        </p:nvSpPr>
        <p:spPr>
          <a:xfrm>
            <a:off x="508000" y="1524000"/>
            <a:ext cx="5220970" cy="1219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00000"/>
              </a:lnSpc>
              <a:spcBef>
                <a:spcPts val="115"/>
              </a:spcBef>
              <a:tabLst>
                <a:tab pos="481965" algn="l"/>
              </a:tabLst>
            </a:pP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Uses existing government platforms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Supports REST, SOAP/XML &amp; legacy systems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Modular &amp; scalable architecture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Uses open-source technologies       </a:t>
            </a:r>
            <a:endParaRPr lang="en-US" sz="2400"/>
          </a:p>
        </p:txBody>
      </p:sp>
      <p:sp>
        <p:nvSpPr>
          <p:cNvPr id="11" name="Text Box 10"/>
          <p:cNvSpPr txBox="1"/>
          <p:nvPr/>
        </p:nvSpPr>
        <p:spPr>
          <a:xfrm>
            <a:off x="5308600" y="6172200"/>
            <a:ext cx="5285105" cy="20777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just">
              <a:lnSpc>
                <a:spcPct val="100000"/>
              </a:lnSpc>
              <a:spcBef>
                <a:spcPts val="115"/>
              </a:spcBef>
              <a:tabLst>
                <a:tab pos="481965" algn="l"/>
              </a:tabLst>
            </a:pP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Different data formats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Legacy system compatibility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Data privacy &amp; security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Duplicate/inconsistent data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algn="just"/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39420" y="4876800"/>
            <a:ext cx="4359910" cy="254190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just">
              <a:lnSpc>
                <a:spcPct val="100000"/>
              </a:lnSpc>
              <a:spcBef>
                <a:spcPts val="115"/>
              </a:spcBef>
              <a:tabLst>
                <a:tab pos="481965" algn="l"/>
              </a:tabLst>
            </a:pP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Data standardization for different formats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API adapters for legacy systems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SSO + RBAC + Consent for security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MDM + validation for data quality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727200" y="1371600"/>
            <a:ext cx="1377950" cy="45656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>
            <a:noAutofit/>
          </a:bodyPr>
          <a:p>
            <a:r>
              <a:rPr lang="zh-CN" altLang="en-US" sz="240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Citizens</a:t>
            </a:r>
            <a:endParaRPr lang="en-US" sz="2400"/>
          </a:p>
        </p:txBody>
      </p:sp>
      <p:sp>
        <p:nvSpPr>
          <p:cNvPr id="14" name="Text Box 13"/>
          <p:cNvSpPr txBox="1"/>
          <p:nvPr/>
        </p:nvSpPr>
        <p:spPr>
          <a:xfrm>
            <a:off x="5918200" y="5943600"/>
            <a:ext cx="3277235" cy="50546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Challenges &amp; Risks</a:t>
            </a:r>
            <a:endParaRPr lang="en-US" altLang="en-US" sz="2400">
              <a:latin typeface="Arial" panose="020B0604020202020204"/>
              <a:cs typeface="Arial" panose="020B0604020202020204"/>
              <a:sym typeface="+mn-ea"/>
            </a:endParaRPr>
          </a:p>
          <a:p>
            <a:pPr algn="l"/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574800" y="4572000"/>
            <a:ext cx="1784350" cy="5238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Strategies</a:t>
            </a:r>
            <a:endParaRPr lang="en-US" altLang="en-US" sz="2400">
              <a:latin typeface="Arial" panose="020B0604020202020204"/>
              <a:cs typeface="Arial" panose="020B0604020202020204"/>
              <a:sym typeface="+mn-ea"/>
            </a:endParaRPr>
          </a:p>
          <a:p>
            <a:pPr algn="l"/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4" rIns="0" bIns="0" rtlCol="0">
            <a:spAutoFit/>
          </a:bodyPr>
          <a:lstStyle/>
          <a:p>
            <a:pPr marL="2298700">
              <a:lnSpc>
                <a:spcPct val="100000"/>
              </a:lnSpc>
              <a:spcBef>
                <a:spcPts val="125"/>
              </a:spcBef>
            </a:pPr>
            <a:r>
              <a:rPr spc="-480" dirty="0"/>
              <a:t>IMPACT</a:t>
            </a:r>
            <a:r>
              <a:rPr spc="-520" dirty="0"/>
              <a:t> </a:t>
            </a:r>
            <a:r>
              <a:rPr spc="-650" dirty="0"/>
              <a:t>AND</a:t>
            </a:r>
            <a:r>
              <a:rPr spc="-459" dirty="0"/>
              <a:t> </a:t>
            </a:r>
            <a:r>
              <a:rPr spc="-630" dirty="0"/>
              <a:t>BENEFITS</a:t>
            </a:r>
            <a:endParaRPr spc="-630" dirty="0"/>
          </a:p>
        </p:txBody>
      </p:sp>
      <p:sp>
        <p:nvSpPr>
          <p:cNvPr id="3" name="object 3"/>
          <p:cNvSpPr txBox="1"/>
          <p:nvPr/>
        </p:nvSpPr>
        <p:spPr>
          <a:xfrm>
            <a:off x="660400" y="1594485"/>
            <a:ext cx="6096000" cy="2971165"/>
          </a:xfrm>
          <a:prstGeom prst="rect">
            <a:avLst/>
          </a:prstGeom>
        </p:spPr>
        <p:txBody>
          <a:bodyPr vert="horz" wrap="square" lIns="0" tIns="14604" rIns="0" bIns="0" rtlCol="0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457200" indent="-4572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One-stop access to government services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457200" indent="-4572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Less repeated form filling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457200" indent="-4572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Real-time application tracking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457200" indent="-4572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Faster &amp; transparent services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92455" y="562610"/>
            <a:ext cx="1328420" cy="4159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88900" algn="just">
              <a:lnSpc>
                <a:spcPts val="2800"/>
              </a:lnSpc>
              <a:spcBef>
                <a:spcPts val="450"/>
              </a:spcBef>
            </a:pPr>
            <a:r>
              <a:rPr lang="en-US" altLang="en-US" sz="2550">
                <a:latin typeface="Arial" panose="020B0604020202020204"/>
                <a:cs typeface="Arial" panose="020B0604020202020204"/>
              </a:rPr>
              <a:t>VisionX</a:t>
            </a:r>
            <a:endParaRPr lang="en-US" altLang="en-US" sz="25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9" name="Text Box 8"/>
          <p:cNvSpPr txBox="1"/>
          <p:nvPr/>
        </p:nvSpPr>
        <p:spPr>
          <a:xfrm>
            <a:off x="8966200" y="5690235"/>
            <a:ext cx="6068695" cy="250571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342900" indent="-342900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Seamless data sharing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Reduced duplicate records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Better inter-department coordination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Improved monitoring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08000" y="5715000"/>
            <a:ext cx="7119620" cy="24161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457200" indent="-4572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Social: Transparent &amp; accessible services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457200" indent="-4572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Economic: Reduced administrative cost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457200" indent="-4572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r>
              <a:rPr lang="en-US" altLang="en-US" sz="2800">
                <a:latin typeface="Arial" panose="020B0604020202020204"/>
                <a:cs typeface="Arial" panose="020B0604020202020204"/>
                <a:sym typeface="+mn-ea"/>
              </a:rPr>
              <a:t>Environmental: Less paper &amp; fewer physical visits</a:t>
            </a:r>
            <a:endParaRPr lang="en-US" altLang="en-US" sz="2800">
              <a:latin typeface="Arial" panose="020B0604020202020204"/>
              <a:cs typeface="Arial" panose="020B0604020202020204"/>
            </a:endParaRPr>
          </a:p>
          <a:p>
            <a:pPr marL="457200" indent="-457200" algn="just">
              <a:lnSpc>
                <a:spcPct val="100000"/>
              </a:lnSpc>
              <a:spcBef>
                <a:spcPts val="115"/>
              </a:spcBef>
              <a:buFont typeface="Arial" panose="020B0604020202020204" pitchFamily="34" charset="0"/>
              <a:buChar char="•"/>
              <a:tabLst>
                <a:tab pos="481965" algn="l"/>
              </a:tabLst>
            </a:pPr>
            <a:endParaRPr lang="en-US" sz="2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565400" y="1450340"/>
            <a:ext cx="1974215" cy="42862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>
              <a:lnSpc>
                <a:spcPct val="100000"/>
              </a:lnSpc>
              <a:spcBef>
                <a:spcPts val="115"/>
              </a:spcBef>
              <a:tabLst>
                <a:tab pos="481965" algn="l"/>
              </a:tabLst>
            </a:pPr>
            <a:r>
              <a:rPr lang="zh-CN" altLang="en-US" sz="2400">
                <a:latin typeface="Arial" panose="020B0604020202020204"/>
                <a:cs typeface="Arial" panose="020B0604020202020204"/>
                <a:sym typeface="+mn-ea"/>
              </a:rPr>
              <a:t>👤 </a:t>
            </a: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Citizens</a:t>
            </a:r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9347200" y="5486400"/>
            <a:ext cx="2515235" cy="47498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latin typeface="Arial" panose="020B0604020202020204"/>
                <a:cs typeface="Arial" panose="020B0604020202020204"/>
                <a:sym typeface="+mn-ea"/>
              </a:rPr>
              <a:t>🏛 </a:t>
            </a: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Government</a:t>
            </a:r>
            <a:endParaRPr lang="en-US" altLang="en-US" sz="2400">
              <a:latin typeface="Arial" panose="020B0604020202020204"/>
              <a:cs typeface="Arial" panose="020B0604020202020204"/>
              <a:sym typeface="+mn-ea"/>
            </a:endParaRPr>
          </a:p>
          <a:p>
            <a:pPr algn="l"/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274445" y="5181600"/>
            <a:ext cx="1935480" cy="42545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0" lvl="0" indent="0" algn="l">
              <a:buNone/>
            </a:pPr>
            <a:r>
              <a:rPr lang="zh-CN" altLang="en-US" sz="2400">
                <a:latin typeface="Arial" panose="020B0604020202020204"/>
                <a:cs typeface="Arial" panose="020B0604020202020204"/>
                <a:sym typeface="+mn-ea"/>
              </a:rPr>
              <a:t>🌍 </a:t>
            </a:r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Benefits</a:t>
            </a:r>
            <a:endParaRPr lang="en-US" altLang="en-US" sz="2400">
              <a:latin typeface="Arial" panose="020B0604020202020204"/>
              <a:cs typeface="Arial" panose="020B0604020202020204"/>
              <a:sym typeface="+mn-ea"/>
            </a:endParaRPr>
          </a:p>
          <a:p>
            <a:pPr marL="0" lvl="0" indent="0" algn="l">
              <a:buNone/>
            </a:pPr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pic>
        <p:nvPicPr>
          <p:cNvPr id="16" name="Picture 15" descr="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430" y="964565"/>
            <a:ext cx="7088505" cy="4725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4" rIns="0" bIns="0" rtlCol="0">
            <a:spAutoFit/>
          </a:bodyPr>
          <a:lstStyle/>
          <a:p>
            <a:pPr marL="1422400">
              <a:lnSpc>
                <a:spcPct val="100000"/>
              </a:lnSpc>
              <a:spcBef>
                <a:spcPts val="125"/>
              </a:spcBef>
            </a:pPr>
            <a:r>
              <a:rPr spc="-755" dirty="0"/>
              <a:t>RESEARCH</a:t>
            </a:r>
            <a:r>
              <a:rPr spc="685" dirty="0"/>
              <a:t> </a:t>
            </a:r>
            <a:r>
              <a:rPr spc="-650" dirty="0"/>
              <a:t>AND</a:t>
            </a:r>
            <a:r>
              <a:rPr spc="-465" dirty="0"/>
              <a:t> </a:t>
            </a:r>
            <a:r>
              <a:rPr spc="-780" dirty="0"/>
              <a:t>REFERENCES</a:t>
            </a:r>
            <a:endParaRPr spc="-780" dirty="0"/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0400" y="609600"/>
            <a:ext cx="1350010" cy="4159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88900" algn="just">
              <a:lnSpc>
                <a:spcPts val="2800"/>
              </a:lnSpc>
              <a:spcBef>
                <a:spcPts val="450"/>
              </a:spcBef>
            </a:pPr>
            <a:r>
              <a:rPr lang="en-US" altLang="en-US" sz="2550">
                <a:latin typeface="Arial" panose="020B0604020202020204"/>
                <a:cs typeface="Arial" panose="020B0604020202020204"/>
              </a:rPr>
              <a:t>VisionX</a:t>
            </a:r>
            <a:endParaRPr lang="en-US" altLang="en-US" sz="25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50" dirty="0"/>
              <a:t>@SIH </a:t>
            </a:r>
            <a:r>
              <a:rPr spc="-110" dirty="0"/>
              <a:t>Idea</a:t>
            </a:r>
            <a:r>
              <a:rPr spc="-180" dirty="0"/>
              <a:t> </a:t>
            </a:r>
            <a:r>
              <a:rPr spc="-65" dirty="0"/>
              <a:t>submission-</a:t>
            </a:r>
            <a:r>
              <a:rPr spc="-145" dirty="0"/>
              <a:t> </a:t>
            </a:r>
            <a:r>
              <a:rPr spc="-55" dirty="0"/>
              <a:t>Template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0" name="Text Box 9"/>
          <p:cNvSpPr txBox="1"/>
          <p:nvPr/>
        </p:nvSpPr>
        <p:spPr>
          <a:xfrm>
            <a:off x="1651000" y="1524000"/>
            <a:ext cx="5418455" cy="51435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en-US" sz="2400">
                <a:latin typeface="Arial" panose="020B0604020202020204"/>
                <a:cs typeface="Arial" panose="020B0604020202020204"/>
                <a:sym typeface="+mn-ea"/>
              </a:rPr>
              <a:t>RESEARCH &amp; REFERENCES</a:t>
            </a:r>
            <a:endParaRPr lang="en-US" altLang="en-US" sz="2400">
              <a:latin typeface="Arial" panose="020B0604020202020204"/>
              <a:cs typeface="Arial" panose="020B0604020202020204"/>
            </a:endParaRPr>
          </a:p>
          <a:p>
            <a:pPr algn="l"/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763905" y="2378075"/>
            <a:ext cx="14474190" cy="5627370"/>
            <a:chOff x="936" y="2707"/>
            <a:chExt cx="15437" cy="4435"/>
          </a:xfrm>
        </p:grpSpPr>
        <p:sp>
          <p:nvSpPr>
            <p:cNvPr id="31" name="Rectangle 30"/>
            <p:cNvSpPr/>
            <p:nvPr/>
          </p:nvSpPr>
          <p:spPr>
            <a:xfrm>
              <a:off x="936" y="2707"/>
              <a:ext cx="2880" cy="691"/>
            </a:xfrm>
            <a:prstGeom prst="rect">
              <a:avLst/>
            </a:prstGeom>
            <a:solidFill>
              <a:srgbClr val="18375B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</a:t>
              </a:r>
              <a:endPara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974" y="2707"/>
              <a:ext cx="6120" cy="691"/>
            </a:xfrm>
            <a:prstGeom prst="rect">
              <a:avLst/>
            </a:prstGeom>
            <a:solidFill>
              <a:srgbClr val="18375B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 / Link</a:t>
              </a:r>
              <a:endPara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253" y="2707"/>
              <a:ext cx="6120" cy="691"/>
            </a:xfrm>
            <a:prstGeom prst="rect">
              <a:avLst/>
            </a:prstGeom>
            <a:solidFill>
              <a:srgbClr val="18375B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 in Solution</a:t>
              </a:r>
              <a:endParaRPr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36" y="3398"/>
              <a:ext cx="2880" cy="936"/>
            </a:xfrm>
            <a:prstGeom prst="rect">
              <a:avLst/>
            </a:prstGeom>
            <a:solidFill>
              <a:srgbClr val="F5F9FD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2800" b="1">
                  <a:solidFill>
                    <a:srgbClr val="18375B"/>
                  </a:solidFill>
                  <a:latin typeface="Aptos"/>
                </a:rPr>
                <a:t>IndEA 2.0</a:t>
              </a:r>
              <a:endParaRPr sz="2800" b="1">
                <a:solidFill>
                  <a:srgbClr val="18375B"/>
                </a:solidFill>
                <a:latin typeface="Apto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904" y="3295"/>
              <a:ext cx="6120" cy="936"/>
            </a:xfrm>
            <a:prstGeom prst="rect">
              <a:avLst/>
            </a:prstGeom>
            <a:solidFill>
              <a:srgbClr val="F5F9FD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2800" b="0">
                  <a:solidFill>
                    <a:srgbClr val="232A32"/>
                  </a:solidFill>
                  <a:latin typeface="Aptos"/>
                </a:rPr>
                <a:t>India Enterprise Architecture Framework Guidelines (MeitY)</a:t>
              </a:r>
              <a:endParaRPr sz="2800" b="0">
                <a:solidFill>
                  <a:srgbClr val="232A32"/>
                </a:solidFill>
                <a:latin typeface="Apto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253" y="3398"/>
              <a:ext cx="6120" cy="936"/>
            </a:xfrm>
            <a:prstGeom prst="rect">
              <a:avLst/>
            </a:prstGeom>
            <a:solidFill>
              <a:srgbClr val="F5F9FD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2800" b="0">
                  <a:solidFill>
                    <a:srgbClr val="232A32"/>
                  </a:solidFill>
                  <a:latin typeface="Aptos"/>
                </a:rPr>
                <a:t>Interoperability, architecture &amp; federated government services</a:t>
              </a:r>
              <a:endParaRPr sz="2800" b="0">
                <a:solidFill>
                  <a:srgbClr val="232A32"/>
                </a:solidFill>
                <a:latin typeface="Apto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36" y="4334"/>
              <a:ext cx="2880" cy="93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2400" b="1">
                  <a:solidFill>
                    <a:srgbClr val="18375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DPDP Act 2023</a:t>
              </a:r>
              <a:endParaRPr sz="2400" b="1">
                <a:solidFill>
                  <a:srgbClr val="18375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917" y="4334"/>
              <a:ext cx="6120" cy="93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2400" b="0">
                  <a:solidFill>
                    <a:srgbClr val="232A3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Digital Personal Data Protection Act 2023</a:t>
              </a:r>
              <a:endParaRPr sz="2400" b="0">
                <a:solidFill>
                  <a:srgbClr val="232A3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253" y="4334"/>
              <a:ext cx="6120" cy="93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2400" b="0">
                  <a:solidFill>
                    <a:srgbClr val="232A32"/>
                  </a:solidFill>
                  <a:latin typeface="Aptos"/>
                </a:rPr>
                <a:t>Consent, privacy, accountability &amp; data handling controls</a:t>
              </a:r>
              <a:endParaRPr sz="2400" b="0">
                <a:solidFill>
                  <a:srgbClr val="232A32"/>
                </a:solidFill>
                <a:latin typeface="Aptos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36" y="5270"/>
              <a:ext cx="2880" cy="936"/>
            </a:xfrm>
            <a:prstGeom prst="rect">
              <a:avLst/>
            </a:prstGeom>
            <a:solidFill>
              <a:srgbClr val="F5F9FD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2400" b="1">
                  <a:solidFill>
                    <a:srgbClr val="18375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NeGD SSO</a:t>
              </a:r>
              <a:endParaRPr sz="2400" b="1">
                <a:solidFill>
                  <a:srgbClr val="18375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974" y="5217"/>
              <a:ext cx="6120" cy="936"/>
            </a:xfrm>
            <a:prstGeom prst="rect">
              <a:avLst/>
            </a:prstGeom>
            <a:solidFill>
              <a:srgbClr val="F5F9FD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2400" b="0">
                  <a:solidFill>
                    <a:srgbClr val="232A3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NeGD Single Sign-On / government SSO standards</a:t>
              </a:r>
              <a:endParaRPr sz="2400" b="0">
                <a:solidFill>
                  <a:srgbClr val="232A3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253" y="5270"/>
              <a:ext cx="6120" cy="936"/>
            </a:xfrm>
            <a:prstGeom prst="rect">
              <a:avLst/>
            </a:prstGeom>
            <a:solidFill>
              <a:srgbClr val="F5F9FD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1080" b="0">
                  <a:solidFill>
                    <a:srgbClr val="232A32"/>
                  </a:solidFill>
                  <a:latin typeface="Aptos"/>
                </a:rPr>
                <a:t>Unified citizen authentication and federated access</a:t>
              </a:r>
              <a:endParaRPr sz="1080" b="0">
                <a:solidFill>
                  <a:srgbClr val="232A32"/>
                </a:solidFill>
                <a:latin typeface="Apto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36" y="6206"/>
              <a:ext cx="2880" cy="93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1080" b="1">
                  <a:solidFill>
                    <a:srgbClr val="18375B"/>
                  </a:solidFill>
                  <a:latin typeface="Aptos"/>
                </a:rPr>
                <a:t>Project Codebase</a:t>
              </a:r>
              <a:endParaRPr sz="1080" b="1">
                <a:solidFill>
                  <a:srgbClr val="18375B"/>
                </a:solidFill>
                <a:latin typeface="Apto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917" y="6206"/>
              <a:ext cx="6120" cy="93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1080" b="0">
                  <a:solidFill>
                    <a:srgbClr val="232A32"/>
                  </a:solidFill>
                  <a:latin typeface="Aptos"/>
                  <a:hlinkClick r:id="rId2"/>
                </a:rPr>
                <a:t>Live GitHub: github.com/mepellireeta-wq/interoperability-framework</a:t>
              </a:r>
              <a:endParaRPr sz="1080" b="0">
                <a:solidFill>
                  <a:srgbClr val="232A32"/>
                </a:solidFill>
                <a:latin typeface="Aptos"/>
                <a:hlinkClick r:id="rId2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253" y="6206"/>
              <a:ext cx="6120" cy="93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ECD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Ins="54864" rtlCol="0" anchor="ctr"/>
            <a:lstStyle/>
            <a:p>
              <a:pPr algn="l"/>
              <a:r>
                <a:rPr sz="1080" b="0">
                  <a:solidFill>
                    <a:srgbClr val="232A32"/>
                  </a:solidFill>
                  <a:latin typeface="Aptos"/>
                </a:rPr>
                <a:t>Prototype implementation, connectors and integration workflow</a:t>
              </a:r>
              <a:endParaRPr sz="1080" b="0">
                <a:solidFill>
                  <a:srgbClr val="232A32"/>
                </a:solidFill>
                <a:latin typeface="Apto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3217</Words>
  <Application>WPS Presentation</Application>
  <PresentationFormat>On-screen Show (4:3)</PresentationFormat>
  <Paragraphs>171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Arial</vt:lpstr>
      <vt:lpstr>Tahoma</vt:lpstr>
      <vt:lpstr>Adobe Gothic Std B</vt:lpstr>
      <vt:lpstr>AMGDT</vt:lpstr>
      <vt:lpstr>Microsoft YaHei</vt:lpstr>
      <vt:lpstr>Wingdings</vt:lpstr>
      <vt:lpstr>Aptos</vt:lpstr>
      <vt:lpstr>Segoe UI</vt:lpstr>
      <vt:lpstr>Arial Unicode MS</vt:lpstr>
      <vt:lpstr>Calibri</vt:lpstr>
      <vt:lpstr>Office Theme</vt:lpstr>
      <vt:lpstr>SMART INDIA HACKATHON 2026</vt:lpstr>
      <vt:lpstr>System integration and interoperability among government digital platforms,resulting in fragmented service delivery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/>
  <cp:lastModifiedBy>mepel</cp:lastModifiedBy>
  <cp:revision>7</cp:revision>
  <dcterms:created xsi:type="dcterms:W3CDTF">2026-09-06T16:05:00Z</dcterms:created>
  <dcterms:modified xsi:type="dcterms:W3CDTF">2026-09-07T03:15:37Z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2026-09-06T22:00:00Z</vt:filetime>
  </property>
  <property fmtid="{D5CDD505-2E9C-101B-9397-08002B2CF9AE}" pid="3" name="Producer">
    <vt:lpwstr>Skia/PDF m136</vt:lpwstr>
  </property>
  <property fmtid="{D5CDD505-2E9C-101B-9397-08002B2CF9AE}" pid="4" name="LastSaved">
    <vt:filetime>2026-09-06T22:00:00Z</vt:filetime>
  </property>
  <property fmtid="{D5CDD505-2E9C-101B-9397-08002B2CF9AE}" pid="5" name="KSOProductBuildVer">
    <vt:lpwstr>1033-12.1.0.28485</vt:lpwstr>
  </property>
  <property fmtid="{D5CDD505-2E9C-101B-9397-08002B2CF9AE}" pid="6" name="ICV">
    <vt:lpwstr>FDAD26EAB62A48049FA7003DB1E37595_13</vt:lpwstr>
  </property>
</Properties>
</file>