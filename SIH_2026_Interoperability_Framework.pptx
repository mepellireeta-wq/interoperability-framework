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github.com/mepellireeta-wq/interoperability-framewor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18375B"/>
                </a:solidFill>
                <a:latin typeface="Aptos Display"/>
              </a:rPr>
              <a:t>UNIVERSAL GOVERNMENT
INTEROPERABILITY &amp; FEDERATED SERVICE DELIVERY FRAMEWORK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8375B"/>
                </a:solidFill>
                <a:latin typeface="Aptos"/>
              </a:rPr>
              <a:t>Problem Statement ID – </a:t>
            </a:r>
            <a:r>
              <a:rPr sz="1500">
                <a:solidFill>
                  <a:srgbClr val="232A32"/>
                </a:solidFill>
                <a:latin typeface="Aptos"/>
              </a:rPr>
              <a:t>[Enter PS ID]</a:t>
            </a:r>
            <a:endParaRPr lang="en-US" dirty="0"/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8375B"/>
                </a:solidFill>
                <a:latin typeface="Aptos"/>
              </a:rPr>
              <a:t>Problem Statement Title – </a:t>
            </a:r>
            <a:r>
              <a:rPr sz="1500">
                <a:solidFill>
                  <a:srgbClr val="232A32"/>
                </a:solidFill>
                <a:latin typeface="Aptos"/>
              </a:rPr>
              <a:t>System Integration and Interoperability Among Government Digital Platforms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8375B"/>
                </a:solidFill>
                <a:latin typeface="Aptos"/>
              </a:rPr>
              <a:t>Theme – </a:t>
            </a:r>
            <a:r>
              <a:rPr sz="1500">
                <a:solidFill>
                  <a:srgbClr val="232A32"/>
                </a:solidFill>
                <a:latin typeface="Aptos"/>
              </a:rPr>
              <a:t>Smart Automation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8375B"/>
                </a:solidFill>
                <a:latin typeface="Aptos"/>
              </a:rPr>
              <a:t>PS Category – </a:t>
            </a:r>
            <a:r>
              <a:rPr sz="1500">
                <a:solidFill>
                  <a:srgbClr val="232A32"/>
                </a:solidFill>
                <a:latin typeface="Aptos"/>
              </a:rPr>
              <a:t>Software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8375B"/>
                </a:solidFill>
                <a:latin typeface="Aptos"/>
              </a:rPr>
              <a:t>Team ID – </a:t>
            </a:r>
            <a:r>
              <a:rPr sz="1500">
                <a:solidFill>
                  <a:srgbClr val="232A32"/>
                </a:solidFill>
                <a:latin typeface="Aptos"/>
              </a:rPr>
              <a:t>[Enter Team ID]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8375B"/>
                </a:solidFill>
                <a:latin typeface="Aptos"/>
              </a:rPr>
              <a:t>Team Name – </a:t>
            </a:r>
            <a:r>
              <a:rPr sz="1500">
                <a:solidFill>
                  <a:srgbClr val="232A32"/>
                </a:solidFill>
                <a:latin typeface="Aptos"/>
              </a:rPr>
              <a:t>[Enter 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903720" y="4828032"/>
            <a:ext cx="3566160" cy="502920"/>
          </a:xfrm>
          <a:prstGeom prst="roundRect">
            <a:avLst/>
          </a:prstGeom>
          <a:solidFill>
            <a:srgbClr val="E8F2FA"/>
          </a:solidFill>
          <a:ln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8375B"/>
                </a:solidFill>
                <a:latin typeface="Aptos"/>
              </a:rPr>
              <a:t>28 States • 8 UTs • 10 Sectors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8375B"/>
                </a:solidFill>
                <a:latin typeface="Aptos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502920" y="1143000"/>
            <a:ext cx="10058400" cy="47548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8375B"/>
                </a:solidFill>
                <a:latin typeface="Aptos Display"/>
              </a:rPr>
              <a:t>Universal Government Interoperability &amp; Federated Service Delivery Framework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658368" y="1627632"/>
            <a:ext cx="9738360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5A636C"/>
                </a:solidFill>
                <a:latin typeface="Aptos"/>
              </a:rPr>
              <a:t>A middleware-first national integration layer connecting state &amp; central digital services without replacing existing systems.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502920" y="2148840"/>
            <a:ext cx="4800600" cy="2148840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612648" y="2203704"/>
            <a:ext cx="4581144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8375B"/>
                </a:solidFill>
                <a:latin typeface="Aptos Display"/>
              </a:rPr>
              <a:t>DETAILED SOLUTION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630936" y="2542032"/>
            <a:ext cx="4544568" cy="1645919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defRPr sz="1350">
                <a:solidFill>
                  <a:srgbClr val="232A32"/>
                </a:solidFill>
                <a:latin typeface="Aptos"/>
              </a:defRPr>
            </a:pPr>
            <a:r>
              <a:t>• Unified citizen portal + single JWT-based SSO identity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  <a:latin typeface="Aptos"/>
              </a:defRPr>
            </a:pPr>
            <a:r>
              <a:t>• Standardizes inputs into E-GOV-STD-INTEROP-2026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  <a:latin typeface="Aptos"/>
              </a:defRPr>
            </a:pPr>
            <a:r>
              <a:t>• Master Data Management with SHA-256 identity deduplication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  <a:latin typeface="Aptos"/>
              </a:defRPr>
            </a:pPr>
            <a:r>
              <a:t>• Federates workflows across 10 sectors and 28 States + 8 UTs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5486400" y="2148840"/>
            <a:ext cx="50749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5596128" y="2203704"/>
            <a:ext cx="4855464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8375B"/>
                </a:solidFill>
                <a:latin typeface="Aptos Display"/>
              </a:rPr>
              <a:t>HOW IT ADDRESSES THE PROBLEM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5614416" y="2542032"/>
            <a:ext cx="4818888" cy="1645919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defRPr sz="1350">
                <a:solidFill>
                  <a:srgbClr val="232A32"/>
                </a:solidFill>
                <a:latin typeface="Aptos"/>
              </a:defRPr>
            </a:pPr>
            <a:r>
              <a:t>• 0% document re-uploads across connected workflows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  <a:latin typeface="Aptos"/>
              </a:defRPr>
            </a:pPr>
            <a:r>
              <a:t>• One tracking ID: GOV-2026-X8F9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  <a:latin typeface="Aptos"/>
              </a:defRPr>
            </a:pPr>
            <a:r>
              <a:t>• 360° official view of citizen/application status</a:t>
            </a:r>
          </a:p>
          <a:p>
            <a:pPr>
              <a:spcAft>
                <a:spcPts val="500"/>
              </a:spcAft>
              <a:defRPr sz="1350">
                <a:solidFill>
                  <a:srgbClr val="232A32"/>
                </a:solidFill>
                <a:latin typeface="Aptos"/>
              </a:defRPr>
            </a:pPr>
            <a:r>
              <a:t>• Live SMS / Email alerts + executive SLA review queue</a:t>
            </a:r>
          </a:p>
        </p:txBody>
      </p:sp>
      <p:sp>
        <p:nvSpPr>
          <p:cNvPr id="15370" name="Rectangle 15369"/>
          <p:cNvSpPr/>
          <p:nvPr/>
        </p:nvSpPr>
        <p:spPr>
          <a:xfrm>
            <a:off x="594360" y="4498848"/>
            <a:ext cx="20574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18375B"/>
                </a:solidFill>
                <a:latin typeface="Aptos Display"/>
              </a:rPr>
              <a:t>INNOVATION &amp; UNIQUENESS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594360" y="4919472"/>
            <a:ext cx="2331720" cy="850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7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667512" y="4983480"/>
            <a:ext cx="2185416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27E2B"/>
                </a:solidFill>
                <a:latin typeface="Aptos"/>
              </a:rPr>
              <a:t>Legacy SOAP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667512" y="5239512"/>
            <a:ext cx="2185416" cy="3840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32A32"/>
                </a:solidFill>
                <a:latin typeface="Aptos"/>
              </a:rPr>
              <a:t>JSON ↔ XML/SOAP adapters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3154680" y="4919472"/>
            <a:ext cx="2331720" cy="850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TextBox 15374"/>
          <p:cNvSpPr txBox="1"/>
          <p:nvPr/>
        </p:nvSpPr>
        <p:spPr>
          <a:xfrm>
            <a:off x="3227832" y="4983480"/>
            <a:ext cx="2185416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28B5C"/>
                </a:solidFill>
                <a:latin typeface="Aptos"/>
              </a:rPr>
              <a:t>MDM Dedup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3227832" y="5239512"/>
            <a:ext cx="2185416" cy="3840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32A32"/>
                </a:solidFill>
                <a:latin typeface="Aptos"/>
              </a:rPr>
              <a:t>SHA-256 identity matching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5715000" y="4919472"/>
            <a:ext cx="2331720" cy="850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TextBox 15377"/>
          <p:cNvSpPr txBox="1"/>
          <p:nvPr/>
        </p:nvSpPr>
        <p:spPr>
          <a:xfrm>
            <a:off x="5788152" y="4983480"/>
            <a:ext cx="2185416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070B8"/>
                </a:solidFill>
                <a:latin typeface="Aptos"/>
              </a:rPr>
              <a:t>Quantum-Safe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5788152" y="5239512"/>
            <a:ext cx="2185416" cy="3840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32A32"/>
                </a:solidFill>
                <a:latin typeface="Aptos"/>
              </a:rPr>
              <a:t>BB84 QKD + Kyber-1024 simulation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8275320" y="4919472"/>
            <a:ext cx="2331720" cy="8503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C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TextBox 15380"/>
          <p:cNvSpPr txBox="1"/>
          <p:nvPr/>
        </p:nvSpPr>
        <p:spPr>
          <a:xfrm>
            <a:off x="8348472" y="4983480"/>
            <a:ext cx="2185416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C3737"/>
                </a:solidFill>
                <a:latin typeface="Aptos"/>
              </a:rPr>
              <a:t>AI Assistant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8348472" y="5239512"/>
            <a:ext cx="2185416" cy="3840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32A32"/>
                </a:solidFill>
                <a:latin typeface="Aptos"/>
              </a:rPr>
              <a:t>Guidance + live application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8375B"/>
                </a:solidFill>
                <a:latin typeface="Aptos"/>
              </a:rPr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502920" y="1143000"/>
            <a:ext cx="19659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18375B"/>
                </a:solidFill>
                <a:latin typeface="Aptos Display"/>
              </a:rPr>
              <a:t>TECHNOLOGIES USED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600200"/>
            <a:ext cx="2880360" cy="3977639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30936" y="1709928"/>
            <a:ext cx="2624328" cy="3758183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defRPr sz="1320">
                <a:solidFill>
                  <a:srgbClr val="232A32"/>
                </a:solidFill>
                <a:latin typeface="Aptos"/>
              </a:defRPr>
            </a:pPr>
            <a:r>
              <a:t>• Python Flask + SQLite / SQLAlchemy</a:t>
            </a:r>
          </a:p>
          <a:p>
            <a:pPr>
              <a:spcAft>
                <a:spcPts val="500"/>
              </a:spcAft>
              <a:defRPr sz="1320">
                <a:solidFill>
                  <a:srgbClr val="232A32"/>
                </a:solidFill>
                <a:latin typeface="Aptos"/>
              </a:defRPr>
            </a:pPr>
            <a:r>
              <a:t>• PyJWT + REST Connectors</a:t>
            </a:r>
          </a:p>
          <a:p>
            <a:pPr>
              <a:spcAft>
                <a:spcPts val="500"/>
              </a:spcAft>
              <a:defRPr sz="1320">
                <a:solidFill>
                  <a:srgbClr val="232A32"/>
                </a:solidFill>
                <a:latin typeface="Aptos"/>
              </a:defRPr>
            </a:pPr>
            <a:r>
              <a:t>• Legacy SOAP Adapters</a:t>
            </a:r>
          </a:p>
          <a:p>
            <a:pPr>
              <a:spcAft>
                <a:spcPts val="500"/>
              </a:spcAft>
              <a:defRPr sz="1320">
                <a:solidFill>
                  <a:srgbClr val="232A32"/>
                </a:solidFill>
                <a:latin typeface="Aptos"/>
              </a:defRPr>
            </a:pPr>
            <a:r>
              <a:t>• Async Event Bus + SMS / Email</a:t>
            </a:r>
          </a:p>
          <a:p>
            <a:pPr>
              <a:spcAft>
                <a:spcPts val="500"/>
              </a:spcAft>
              <a:defRPr sz="1320">
                <a:solidFill>
                  <a:srgbClr val="232A32"/>
                </a:solidFill>
                <a:latin typeface="Aptos"/>
              </a:defRPr>
            </a:pPr>
            <a:r>
              <a:t>• Quantum QKD + Kyber-1024 simulation</a:t>
            </a:r>
          </a:p>
          <a:p>
            <a:pPr>
              <a:spcAft>
                <a:spcPts val="500"/>
              </a:spcAft>
              <a:defRPr sz="1320">
                <a:solidFill>
                  <a:srgbClr val="232A32"/>
                </a:solidFill>
                <a:latin typeface="Aptos"/>
              </a:defRPr>
            </a:pPr>
            <a:r>
              <a:t>• Bootstrap 5 Glassmorphic UI</a:t>
            </a:r>
          </a:p>
          <a:p>
            <a:pPr>
              <a:spcAft>
                <a:spcPts val="500"/>
              </a:spcAft>
              <a:defRPr sz="1320">
                <a:solidFill>
                  <a:srgbClr val="232A32"/>
                </a:solidFill>
                <a:latin typeface="Aptos"/>
              </a:defRPr>
            </a:pPr>
            <a:r>
              <a:t>• ESP32 IoT Telemetry Connector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3657600" y="1143000"/>
            <a:ext cx="65379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18375B"/>
                </a:solidFill>
                <a:latin typeface="Aptos Display"/>
              </a:rPr>
              <a:t>IMPLEMENTATION WORKFLOW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794760" y="1828800"/>
            <a:ext cx="1234440" cy="658368"/>
          </a:xfrm>
          <a:prstGeom prst="roundRect">
            <a:avLst/>
          </a:prstGeom>
          <a:solidFill>
            <a:srgbClr val="E8F2FA"/>
          </a:solidFill>
          <a:ln w="1397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8375B"/>
                </a:solidFill>
                <a:latin typeface="Aptos"/>
              </a:rPr>
              <a:t>1. SSO LOGIN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230368" y="1828800"/>
            <a:ext cx="1417320" cy="658368"/>
          </a:xfrm>
          <a:prstGeom prst="roundRect">
            <a:avLst/>
          </a:prstGeom>
          <a:solidFill>
            <a:srgbClr val="E8F2FA"/>
          </a:solidFill>
          <a:ln w="1397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8375B"/>
                </a:solidFill>
                <a:latin typeface="Aptos"/>
              </a:rPr>
              <a:t>2. DATA
STANDARDIZATION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839712" y="1828800"/>
            <a:ext cx="1143000" cy="658368"/>
          </a:xfrm>
          <a:prstGeom prst="roundRect">
            <a:avLst/>
          </a:prstGeom>
          <a:solidFill>
            <a:srgbClr val="E8F2FA"/>
          </a:solidFill>
          <a:ln w="1397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8375B"/>
                </a:solidFill>
                <a:latin typeface="Aptos"/>
              </a:rPr>
              <a:t>3. MDM
CHECK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183879" y="1828800"/>
            <a:ext cx="1417320" cy="658368"/>
          </a:xfrm>
          <a:prstGeom prst="roundRect">
            <a:avLst/>
          </a:prstGeom>
          <a:solidFill>
            <a:srgbClr val="E8F2FA"/>
          </a:solidFill>
          <a:ln w="1397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8375B"/>
                </a:solidFill>
                <a:latin typeface="Aptos"/>
              </a:rPr>
              <a:t>4. MULTI-DEPT
WORKFLOW ENGINE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9802368" y="1828800"/>
            <a:ext cx="1143000" cy="658368"/>
          </a:xfrm>
          <a:prstGeom prst="roundRect">
            <a:avLst/>
          </a:prstGeom>
          <a:solidFill>
            <a:srgbClr val="E8F2FA"/>
          </a:solidFill>
          <a:ln w="1397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8375B"/>
                </a:solidFill>
                <a:latin typeface="Aptos"/>
              </a:rPr>
              <a:t>5. SLA
DASHBOARD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5029200" y="2157984"/>
            <a:ext cx="201168" cy="0"/>
          </a:xfrm>
          <a:prstGeom prst="line">
            <a:avLst/>
          </a:prstGeom>
          <a:ln w="25400">
            <a:solidFill>
              <a:srgbClr val="007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0" name="Connector 17419"/>
          <p:cNvCxnSpPr/>
          <p:nvPr/>
        </p:nvCxnSpPr>
        <p:spPr>
          <a:xfrm>
            <a:off x="6647688" y="2157984"/>
            <a:ext cx="192024" cy="0"/>
          </a:xfrm>
          <a:prstGeom prst="line">
            <a:avLst/>
          </a:prstGeom>
          <a:ln w="25400">
            <a:solidFill>
              <a:srgbClr val="007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1" name="Connector 17420"/>
          <p:cNvCxnSpPr/>
          <p:nvPr/>
        </p:nvCxnSpPr>
        <p:spPr>
          <a:xfrm>
            <a:off x="7982712" y="2157984"/>
            <a:ext cx="201167" cy="0"/>
          </a:xfrm>
          <a:prstGeom prst="line">
            <a:avLst/>
          </a:prstGeom>
          <a:ln w="25400">
            <a:solidFill>
              <a:srgbClr val="007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2" name="Connector 17421"/>
          <p:cNvCxnSpPr/>
          <p:nvPr/>
        </p:nvCxnSpPr>
        <p:spPr>
          <a:xfrm>
            <a:off x="9601200" y="2157984"/>
            <a:ext cx="201168" cy="0"/>
          </a:xfrm>
          <a:prstGeom prst="line">
            <a:avLst/>
          </a:prstGeom>
          <a:ln w="25400">
            <a:solidFill>
              <a:srgbClr val="007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Rounded Rectangle 17422"/>
          <p:cNvSpPr/>
          <p:nvPr/>
        </p:nvSpPr>
        <p:spPr>
          <a:xfrm>
            <a:off x="3794760" y="2880360"/>
            <a:ext cx="1874519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3867912" y="2953512"/>
            <a:ext cx="1728216" cy="2560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18375B"/>
                </a:solidFill>
                <a:latin typeface="Aptos"/>
              </a:rPr>
              <a:t>Consent Manager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3867912" y="3246120"/>
            <a:ext cx="1728216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32A32"/>
                </a:solidFill>
                <a:latin typeface="Aptos"/>
              </a:rPr>
              <a:t>DPDP 2023 • explicit consent • audit trail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925312" y="2880360"/>
            <a:ext cx="1874519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5998464" y="2953512"/>
            <a:ext cx="1728216" cy="2560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18375B"/>
                </a:solidFill>
                <a:latin typeface="Aptos"/>
              </a:rPr>
              <a:t>Interoperability Bus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998464" y="3246120"/>
            <a:ext cx="1728216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32A32"/>
                </a:solidFill>
                <a:latin typeface="Aptos"/>
              </a:rPr>
              <a:t>REST + SOAP • event-driven routing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8055864" y="2880360"/>
            <a:ext cx="1874519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8129016" y="2953512"/>
            <a:ext cx="1728216" cy="2560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18375B"/>
                </a:solidFill>
                <a:latin typeface="Aptos"/>
              </a:rPr>
              <a:t>Security Engine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8129016" y="3246120"/>
            <a:ext cx="1728216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232A32"/>
                </a:solidFill>
                <a:latin typeface="Aptos"/>
              </a:rPr>
              <a:t>SHA-256 • QKD • Kyber-1024 simulation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3767328" y="4160520"/>
            <a:ext cx="6537960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18375B"/>
                </a:solidFill>
                <a:latin typeface="Aptos Display"/>
              </a:rPr>
              <a:t>IMPLEMENTATION PHASES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3794760" y="4572000"/>
            <a:ext cx="1143000" cy="658368"/>
          </a:xfrm>
          <a:prstGeom prst="roundRect">
            <a:avLst/>
          </a:prstGeom>
          <a:solidFill>
            <a:srgbClr val="E8F2FA"/>
          </a:solidFill>
          <a:ln w="1397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8375B"/>
                </a:solidFill>
                <a:latin typeface="Aptos"/>
              </a:rPr>
              <a:t>P1
Connectors &amp; SSO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4937760" y="4901184"/>
            <a:ext cx="164592" cy="0"/>
          </a:xfrm>
          <a:prstGeom prst="line">
            <a:avLst/>
          </a:prstGeom>
          <a:ln w="25400">
            <a:solidFill>
              <a:srgbClr val="007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ounded Rectangle 17434"/>
          <p:cNvSpPr/>
          <p:nvPr/>
        </p:nvSpPr>
        <p:spPr>
          <a:xfrm>
            <a:off x="5102352" y="4572000"/>
            <a:ext cx="114300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8375B"/>
                </a:solidFill>
                <a:latin typeface="Aptos"/>
              </a:rPr>
              <a:t>P2
Schema + MDM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6245352" y="4901184"/>
            <a:ext cx="164592" cy="0"/>
          </a:xfrm>
          <a:prstGeom prst="line">
            <a:avLst/>
          </a:prstGeom>
          <a:ln w="25400">
            <a:solidFill>
              <a:srgbClr val="007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Rounded Rectangle 17436"/>
          <p:cNvSpPr/>
          <p:nvPr/>
        </p:nvSpPr>
        <p:spPr>
          <a:xfrm>
            <a:off x="6409944" y="4572000"/>
            <a:ext cx="1143000" cy="658368"/>
          </a:xfrm>
          <a:prstGeom prst="roundRect">
            <a:avLst/>
          </a:prstGeom>
          <a:solidFill>
            <a:srgbClr val="E8F2FA"/>
          </a:solidFill>
          <a:ln w="1397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8375B"/>
                </a:solidFill>
                <a:latin typeface="Aptos"/>
              </a:rPr>
              <a:t>P3
Workflow + SLA</a:t>
            </a:r>
          </a:p>
        </p:txBody>
      </p:sp>
      <p:cxnSp>
        <p:nvCxnSpPr>
          <p:cNvPr id="17438" name="Connector 17437"/>
          <p:cNvCxnSpPr/>
          <p:nvPr/>
        </p:nvCxnSpPr>
        <p:spPr>
          <a:xfrm>
            <a:off x="7552944" y="4901184"/>
            <a:ext cx="164592" cy="0"/>
          </a:xfrm>
          <a:prstGeom prst="line">
            <a:avLst/>
          </a:prstGeom>
          <a:ln w="25400">
            <a:solidFill>
              <a:srgbClr val="007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Rounded Rectangle 17438"/>
          <p:cNvSpPr/>
          <p:nvPr/>
        </p:nvSpPr>
        <p:spPr>
          <a:xfrm>
            <a:off x="7717536" y="4572000"/>
            <a:ext cx="114300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8375B"/>
                </a:solidFill>
                <a:latin typeface="Aptos"/>
              </a:rPr>
              <a:t>P4
Security + Alerts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8860536" y="4901184"/>
            <a:ext cx="164592" cy="0"/>
          </a:xfrm>
          <a:prstGeom prst="line">
            <a:avLst/>
          </a:prstGeom>
          <a:ln w="25400">
            <a:solidFill>
              <a:srgbClr val="007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9025128" y="4572000"/>
            <a:ext cx="1143000" cy="658368"/>
          </a:xfrm>
          <a:prstGeom prst="roundRect">
            <a:avLst/>
          </a:prstGeom>
          <a:solidFill>
            <a:srgbClr val="E8F2FA"/>
          </a:solidFill>
          <a:ln w="1397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8375B"/>
                </a:solidFill>
                <a:latin typeface="Aptos"/>
              </a:rPr>
              <a:t>P5
Pilot &amp;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0">
                <a:solidFill>
                  <a:srgbClr val="FFFFFF"/>
                </a:solidFill>
                <a:latin typeface="Aptos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8375B"/>
                </a:solidFill>
                <a:latin typeface="Aptos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502920" y="1143000"/>
            <a:ext cx="2743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18375B"/>
                </a:solidFill>
                <a:latin typeface="Aptos Display"/>
              </a:rPr>
              <a:t>FEASIBILITY OF THE IDEA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600200"/>
            <a:ext cx="4572000" cy="3977639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30936" y="1709928"/>
            <a:ext cx="4315968" cy="3758183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defRPr sz="1360">
                <a:solidFill>
                  <a:srgbClr val="232A32"/>
                </a:solidFill>
                <a:latin typeface="Aptos"/>
              </a:defRPr>
            </a:pPr>
            <a:r>
              <a:t>• Middleware overlay — ZERO replacement of existing government databases</a:t>
            </a:r>
          </a:p>
          <a:p>
            <a:pPr>
              <a:spcAft>
                <a:spcPts val="500"/>
              </a:spcAft>
              <a:defRPr sz="1360">
                <a:solidFill>
                  <a:srgbClr val="232A32"/>
                </a:solidFill>
                <a:latin typeface="Aptos"/>
              </a:defRPr>
            </a:pPr>
            <a:r>
              <a:t>• REST-first integration with adapters for legacy SOAP systems</a:t>
            </a:r>
          </a:p>
          <a:p>
            <a:pPr>
              <a:spcAft>
                <a:spcPts val="500"/>
              </a:spcAft>
              <a:defRPr sz="1360">
                <a:solidFill>
                  <a:srgbClr val="232A32"/>
                </a:solidFill>
                <a:latin typeface="Aptos"/>
              </a:defRPr>
            </a:pPr>
            <a:r>
              <a:t>• Modular architecture supports phased onboarding by department</a:t>
            </a:r>
          </a:p>
          <a:p>
            <a:pPr>
              <a:spcAft>
                <a:spcPts val="500"/>
              </a:spcAft>
              <a:defRPr sz="1360">
                <a:solidFill>
                  <a:srgbClr val="232A32"/>
                </a:solidFill>
                <a:latin typeface="Aptos"/>
              </a:defRPr>
            </a:pPr>
            <a:r>
              <a:t>• Reusable standard schema reduces point-to-point integration effort</a:t>
            </a:r>
          </a:p>
          <a:p>
            <a:pPr>
              <a:spcAft>
                <a:spcPts val="500"/>
              </a:spcAft>
              <a:defRPr sz="1360">
                <a:solidFill>
                  <a:srgbClr val="232A32"/>
                </a:solidFill>
                <a:latin typeface="Aptos"/>
              </a:defRPr>
            </a:pPr>
            <a:r>
              <a:t>• Scales from pilot departments to all 28 States + 8 UTs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5321808" y="1143000"/>
            <a:ext cx="5230368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18375B"/>
                </a:solidFill>
                <a:latin typeface="Aptos Display"/>
              </a:rPr>
              <a:t>CHALLENGES → STRATEGIES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349240" y="1627632"/>
            <a:ext cx="22402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CC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20" b="1">
                <a:solidFill>
                  <a:srgbClr val="CC3737"/>
                </a:solidFill>
                <a:latin typeface="Aptos"/>
              </a:rPr>
              <a:t>Legacy API diversity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7589520" y="1901952"/>
            <a:ext cx="292607" cy="0"/>
          </a:xfrm>
          <a:prstGeom prst="line">
            <a:avLst/>
          </a:prstGeom>
          <a:ln w="25400">
            <a:solidFill>
              <a:srgbClr val="007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7936992" y="1627632"/>
            <a:ext cx="2542032" cy="548640"/>
          </a:xfrm>
          <a:prstGeom prst="roundRect">
            <a:avLst/>
          </a:prstGeom>
          <a:solidFill>
            <a:srgbClr val="E8F2FA"/>
          </a:solidFill>
          <a:ln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60" b="1">
                <a:solidFill>
                  <a:srgbClr val="18375B"/>
                </a:solidFill>
                <a:latin typeface="Aptos"/>
              </a:rPr>
              <a:t>Automated JSON ↔ SOAP/XML transformers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349240" y="2395728"/>
            <a:ext cx="22402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CC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20" b="1">
                <a:solidFill>
                  <a:srgbClr val="CC3737"/>
                </a:solidFill>
                <a:latin typeface="Aptos"/>
              </a:rPr>
              <a:t>Security &amp; privacy risk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7589520" y="2670048"/>
            <a:ext cx="292607" cy="0"/>
          </a:xfrm>
          <a:prstGeom prst="line">
            <a:avLst/>
          </a:prstGeom>
          <a:ln w="25400">
            <a:solidFill>
              <a:srgbClr val="007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7936992" y="2395728"/>
            <a:ext cx="2542032" cy="548640"/>
          </a:xfrm>
          <a:prstGeom prst="roundRect">
            <a:avLst/>
          </a:prstGeom>
          <a:solidFill>
            <a:srgbClr val="E8F2FA"/>
          </a:solidFill>
          <a:ln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60" b="1">
                <a:solidFill>
                  <a:srgbClr val="18375B"/>
                </a:solidFill>
                <a:latin typeface="Aptos"/>
              </a:rPr>
              <a:t>DPDP consent controls + audit logs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349240" y="3163824"/>
            <a:ext cx="22402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CC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20" b="1">
                <a:solidFill>
                  <a:srgbClr val="CC3737"/>
                </a:solidFill>
                <a:latin typeface="Aptos"/>
              </a:rPr>
              <a:t>Approval bottlenecks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7589520" y="3438144"/>
            <a:ext cx="292607" cy="0"/>
          </a:xfrm>
          <a:prstGeom prst="line">
            <a:avLst/>
          </a:prstGeom>
          <a:ln w="25400">
            <a:solidFill>
              <a:srgbClr val="007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ounded Rectangle 17421"/>
          <p:cNvSpPr/>
          <p:nvPr/>
        </p:nvSpPr>
        <p:spPr>
          <a:xfrm>
            <a:off x="7936992" y="3163824"/>
            <a:ext cx="2542032" cy="548640"/>
          </a:xfrm>
          <a:prstGeom prst="roundRect">
            <a:avLst/>
          </a:prstGeom>
          <a:solidFill>
            <a:srgbClr val="E8F2FA"/>
          </a:solidFill>
          <a:ln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60" b="1">
                <a:solidFill>
                  <a:srgbClr val="18375B"/>
                </a:solidFill>
                <a:latin typeface="Aptos"/>
              </a:rPr>
              <a:t>&lt;48h SLA warning timers + officer queue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5349240" y="3931920"/>
            <a:ext cx="22402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CC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20" b="1">
                <a:solidFill>
                  <a:srgbClr val="CC3737"/>
                </a:solidFill>
                <a:latin typeface="Aptos"/>
              </a:rPr>
              <a:t>Duplicate records / payouts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7589520" y="4206240"/>
            <a:ext cx="292607" cy="0"/>
          </a:xfrm>
          <a:prstGeom prst="line">
            <a:avLst/>
          </a:prstGeom>
          <a:ln w="25400">
            <a:solidFill>
              <a:srgbClr val="007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Rounded Rectangle 17424"/>
          <p:cNvSpPr/>
          <p:nvPr/>
        </p:nvSpPr>
        <p:spPr>
          <a:xfrm>
            <a:off x="7936992" y="3931920"/>
            <a:ext cx="2542032" cy="548640"/>
          </a:xfrm>
          <a:prstGeom prst="roundRect">
            <a:avLst/>
          </a:prstGeom>
          <a:solidFill>
            <a:srgbClr val="E8F2FA"/>
          </a:solidFill>
          <a:ln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60" b="1">
                <a:solidFill>
                  <a:srgbClr val="18375B"/>
                </a:solidFill>
                <a:latin typeface="Aptos"/>
              </a:rPr>
              <a:t>SHA-256 MDM matching before workflow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349240" y="4700016"/>
            <a:ext cx="22402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CC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20" b="1">
                <a:solidFill>
                  <a:srgbClr val="CC3737"/>
                </a:solidFill>
                <a:latin typeface="Aptos"/>
              </a:rPr>
              <a:t>Real-time integration load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7589520" y="4974336"/>
            <a:ext cx="292607" cy="0"/>
          </a:xfrm>
          <a:prstGeom prst="line">
            <a:avLst/>
          </a:prstGeom>
          <a:ln w="25400">
            <a:solidFill>
              <a:srgbClr val="007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Rounded Rectangle 17427"/>
          <p:cNvSpPr/>
          <p:nvPr/>
        </p:nvSpPr>
        <p:spPr>
          <a:xfrm>
            <a:off x="7936992" y="4700016"/>
            <a:ext cx="2542032" cy="548640"/>
          </a:xfrm>
          <a:prstGeom prst="roundRect">
            <a:avLst/>
          </a:prstGeom>
          <a:solidFill>
            <a:srgbClr val="E8F2FA"/>
          </a:solidFill>
          <a:ln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60" b="1">
                <a:solidFill>
                  <a:srgbClr val="18375B"/>
                </a:solidFill>
                <a:latin typeface="Aptos"/>
              </a:rPr>
              <a:t>Async event bus + alert pipeline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85800" y="5596128"/>
            <a:ext cx="9738360" cy="2743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8375B"/>
                </a:solidFill>
                <a:latin typeface="Aptos"/>
              </a:rPr>
              <a:t>Viability principle: integrate what exists • standardize what varies • secure what is shared • measure what is delayed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0">
                <a:solidFill>
                  <a:srgbClr val="FFFFFF"/>
                </a:solidFill>
                <a:latin typeface="Aptos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8375B"/>
                </a:solidFill>
                <a:latin typeface="Aptos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502920" y="1143000"/>
            <a:ext cx="27432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18375B"/>
                </a:solidFill>
                <a:latin typeface="Aptos Display"/>
              </a:rPr>
              <a:t>POTENTIAL IMPACT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627632"/>
            <a:ext cx="3127248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500" b="1">
                <a:solidFill>
                  <a:srgbClr val="0070B8"/>
                </a:solidFill>
                <a:latin typeface="Aptos Display"/>
              </a:rPr>
              <a:t>CITIZENS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40080" y="2148840"/>
            <a:ext cx="2852928" cy="10972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232A32"/>
                </a:solidFill>
                <a:latin typeface="Aptos"/>
              </a:rPr>
              <a:t>• 1-click single portal
• 0 document re-uploads
• Live mobile status tracking
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904488" y="1627632"/>
            <a:ext cx="3127248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500" b="1">
                <a:solidFill>
                  <a:srgbClr val="228B5C"/>
                </a:solidFill>
                <a:latin typeface="Aptos Display"/>
              </a:rPr>
              <a:t>OFFICIALS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041648" y="2148840"/>
            <a:ext cx="2852928" cy="10972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232A32"/>
                </a:solidFill>
                <a:latin typeface="Aptos"/>
              </a:rPr>
              <a:t>• Single-window SLA analytics
• 360° application view
• Projected: up to 60% less manual verification
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7306056" y="1627632"/>
            <a:ext cx="3127248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7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500" b="1">
                <a:solidFill>
                  <a:srgbClr val="E27E2B"/>
                </a:solidFill>
                <a:latin typeface="Aptos Display"/>
              </a:rPr>
              <a:t>GOVERNMENT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443216" y="2148840"/>
            <a:ext cx="2852928" cy="10972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232A32"/>
                </a:solidFill>
                <a:latin typeface="Aptos"/>
              </a:rPr>
              <a:t>• Interoperable state + central services
• Legacy systems retained
• Faster cross-department delivery
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502920" y="3703320"/>
            <a:ext cx="21945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2D4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18375B"/>
                </a:solidFill>
                <a:latin typeface="Aptos Display"/>
              </a:rPr>
              <a:t>BENEFITS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02920" y="4160520"/>
            <a:ext cx="4892040" cy="658368"/>
          </a:xfrm>
          <a:prstGeom prst="roundRect">
            <a:avLst/>
          </a:prstGeom>
          <a:solidFill>
            <a:srgbClr val="F5F9FD"/>
          </a:solidFill>
          <a:ln>
            <a:solidFill>
              <a:srgbClr val="00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594360" y="4233672"/>
            <a:ext cx="1143000" cy="2560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80" b="1">
                <a:solidFill>
                  <a:srgbClr val="0070B8"/>
                </a:solidFill>
                <a:latin typeface="Aptos"/>
              </a:rPr>
              <a:t>SOCIAL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1783080" y="4215383"/>
            <a:ext cx="3456432" cy="47548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232A32"/>
                </a:solidFill>
                <a:latin typeface="Aptos"/>
              </a:rPr>
              <a:t>Builds trust through transparent tracking, consent, and accountable service delivery.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733288" y="4160520"/>
            <a:ext cx="4892040" cy="658368"/>
          </a:xfrm>
          <a:prstGeom prst="roundRect">
            <a:avLst/>
          </a:prstGeom>
          <a:solidFill>
            <a:srgbClr val="F5F9FD"/>
          </a:solidFill>
          <a:ln>
            <a:solidFill>
              <a:srgbClr val="22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5824727" y="4233672"/>
            <a:ext cx="1143000" cy="2560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80" b="1">
                <a:solidFill>
                  <a:srgbClr val="228B5C"/>
                </a:solidFill>
                <a:latin typeface="Aptos"/>
              </a:rPr>
              <a:t>ECONOMIC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7013448" y="4215383"/>
            <a:ext cx="3456432" cy="47548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232A32"/>
                </a:solidFill>
                <a:latin typeface="Aptos"/>
              </a:rPr>
              <a:t>Reduces duplicate subsidy payouts, manual verification effort, and integration cost.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02920" y="4946904"/>
            <a:ext cx="4892040" cy="658368"/>
          </a:xfrm>
          <a:prstGeom prst="roundRect">
            <a:avLst/>
          </a:prstGeom>
          <a:solidFill>
            <a:srgbClr val="F5F9FD"/>
          </a:solidFill>
          <a:ln>
            <a:solidFill>
              <a:srgbClr val="E27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594360" y="5020056"/>
            <a:ext cx="1143000" cy="2560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80" b="1">
                <a:solidFill>
                  <a:srgbClr val="E27E2B"/>
                </a:solidFill>
                <a:latin typeface="Aptos"/>
              </a:rPr>
              <a:t>ADMINISTRATIVE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1783080" y="5001768"/>
            <a:ext cx="3456432" cy="47548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232A32"/>
                </a:solidFill>
                <a:latin typeface="Aptos"/>
              </a:rPr>
              <a:t>Improves SLA compliance with real-time queues, alerts, and executive visibility.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5733288" y="4946904"/>
            <a:ext cx="4892040" cy="658368"/>
          </a:xfrm>
          <a:prstGeom prst="roundRect">
            <a:avLst/>
          </a:prstGeom>
          <a:solidFill>
            <a:srgbClr val="F5F9FD"/>
          </a:solidFill>
          <a:ln>
            <a:solidFill>
              <a:srgbClr val="CC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5824727" y="5020056"/>
            <a:ext cx="1143000" cy="2560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80" b="1">
                <a:solidFill>
                  <a:srgbClr val="CC3737"/>
                </a:solidFill>
                <a:latin typeface="Aptos"/>
              </a:rPr>
              <a:t>DIGITAL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7013448" y="5001768"/>
            <a:ext cx="3456432" cy="47548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232A32"/>
                </a:solidFill>
                <a:latin typeface="Aptos"/>
              </a:rPr>
              <a:t>Creates a reusable interoperability layer across 10 sectors and heterogeneous systems.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0">
                <a:solidFill>
                  <a:srgbClr val="FFFFFF"/>
                </a:solidFill>
                <a:latin typeface="Aptos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8375B"/>
                </a:solidFill>
                <a:latin typeface="Aptos"/>
              </a:rPr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40080" y="1143000"/>
            <a:ext cx="9692640" cy="411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8375B"/>
                </a:solidFill>
                <a:latin typeface="Aptos Display"/>
              </a:rPr>
              <a:t>Research Basis &amp; Implementation References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594360" y="1719072"/>
            <a:ext cx="1828800" cy="438912"/>
          </a:xfrm>
          <a:prstGeom prst="rect">
            <a:avLst/>
          </a:prstGeom>
          <a:solidFill>
            <a:srgbClr val="1837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Reference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2487168" y="1719072"/>
            <a:ext cx="3886200" cy="438912"/>
          </a:xfrm>
          <a:prstGeom prst="rect">
            <a:avLst/>
          </a:prstGeom>
          <a:solidFill>
            <a:srgbClr val="1837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Source / Link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6510528" y="1719072"/>
            <a:ext cx="3886200" cy="438912"/>
          </a:xfrm>
          <a:prstGeom prst="rect">
            <a:avLst/>
          </a:prstGeom>
          <a:solidFill>
            <a:srgbClr val="1837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Use in Solution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594360" y="2157984"/>
            <a:ext cx="1828800" cy="594360"/>
          </a:xfrm>
          <a:prstGeom prst="rect">
            <a:avLst/>
          </a:prstGeom>
          <a:solidFill>
            <a:srgbClr val="F5F9FD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/>
          <a:lstStyle/>
          <a:p>
            <a:pPr algn="l"/>
            <a:r>
              <a:rPr sz="1080" b="1">
                <a:solidFill>
                  <a:srgbClr val="18375B"/>
                </a:solidFill>
                <a:latin typeface="Aptos"/>
              </a:rPr>
              <a:t>IndEA 2.0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2487168" y="2157984"/>
            <a:ext cx="3886200" cy="594360"/>
          </a:xfrm>
          <a:prstGeom prst="rect">
            <a:avLst/>
          </a:prstGeom>
          <a:solidFill>
            <a:srgbClr val="F5F9FD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/>
          <a:lstStyle/>
          <a:p>
            <a:pPr algn="l"/>
            <a:r>
              <a:rPr sz="1080" b="0">
                <a:solidFill>
                  <a:srgbClr val="232A32"/>
                </a:solidFill>
                <a:latin typeface="Aptos"/>
              </a:rPr>
              <a:t>India Enterprise Architecture Framework Guidelines (MeitY)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6510528" y="2157984"/>
            <a:ext cx="3886200" cy="594360"/>
          </a:xfrm>
          <a:prstGeom prst="rect">
            <a:avLst/>
          </a:prstGeom>
          <a:solidFill>
            <a:srgbClr val="F5F9FD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/>
          <a:lstStyle/>
          <a:p>
            <a:pPr algn="l"/>
            <a:r>
              <a:rPr sz="1080" b="0">
                <a:solidFill>
                  <a:srgbClr val="232A32"/>
                </a:solidFill>
                <a:latin typeface="Aptos"/>
              </a:rPr>
              <a:t>Interoperability, architecture &amp; federated government services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594360" y="2752344"/>
            <a:ext cx="1828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/>
          <a:lstStyle/>
          <a:p>
            <a:pPr algn="l"/>
            <a:r>
              <a:rPr sz="1080" b="1">
                <a:solidFill>
                  <a:srgbClr val="18375B"/>
                </a:solidFill>
                <a:latin typeface="Aptos"/>
              </a:rPr>
              <a:t>DPDP Act 2023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2487168" y="2752344"/>
            <a:ext cx="38862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/>
          <a:lstStyle/>
          <a:p>
            <a:pPr algn="l"/>
            <a:r>
              <a:rPr sz="1080" b="0">
                <a:solidFill>
                  <a:srgbClr val="232A32"/>
                </a:solidFill>
                <a:latin typeface="Aptos"/>
              </a:rPr>
              <a:t>Digital Personal Data Protection Act 2023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6510528" y="2752344"/>
            <a:ext cx="38862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/>
          <a:lstStyle/>
          <a:p>
            <a:pPr algn="l"/>
            <a:r>
              <a:rPr sz="1080" b="0">
                <a:solidFill>
                  <a:srgbClr val="232A32"/>
                </a:solidFill>
                <a:latin typeface="Aptos"/>
              </a:rPr>
              <a:t>Consent, privacy, accountability &amp; data handling controls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594360" y="3346704"/>
            <a:ext cx="1828800" cy="594360"/>
          </a:xfrm>
          <a:prstGeom prst="rect">
            <a:avLst/>
          </a:prstGeom>
          <a:solidFill>
            <a:srgbClr val="F5F9FD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/>
          <a:lstStyle/>
          <a:p>
            <a:pPr algn="l"/>
            <a:r>
              <a:rPr sz="1080" b="1">
                <a:solidFill>
                  <a:srgbClr val="18375B"/>
                </a:solidFill>
                <a:latin typeface="Aptos"/>
              </a:rPr>
              <a:t>NeGD SSO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2487168" y="3346704"/>
            <a:ext cx="3886200" cy="594360"/>
          </a:xfrm>
          <a:prstGeom prst="rect">
            <a:avLst/>
          </a:prstGeom>
          <a:solidFill>
            <a:srgbClr val="F5F9FD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/>
          <a:lstStyle/>
          <a:p>
            <a:pPr algn="l"/>
            <a:r>
              <a:rPr sz="1080" b="0">
                <a:solidFill>
                  <a:srgbClr val="232A32"/>
                </a:solidFill>
                <a:latin typeface="Aptos"/>
              </a:rPr>
              <a:t>NeGD Single Sign-On / government SSO standards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6510528" y="3346704"/>
            <a:ext cx="3886200" cy="594360"/>
          </a:xfrm>
          <a:prstGeom prst="rect">
            <a:avLst/>
          </a:prstGeom>
          <a:solidFill>
            <a:srgbClr val="F5F9FD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/>
          <a:lstStyle/>
          <a:p>
            <a:pPr algn="l"/>
            <a:r>
              <a:rPr sz="1080" b="0">
                <a:solidFill>
                  <a:srgbClr val="232A32"/>
                </a:solidFill>
                <a:latin typeface="Aptos"/>
              </a:rPr>
              <a:t>Unified citizen authentication and federated access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594360" y="3941064"/>
            <a:ext cx="1828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/>
          <a:lstStyle/>
          <a:p>
            <a:pPr algn="l"/>
            <a:r>
              <a:rPr sz="1080" b="1">
                <a:solidFill>
                  <a:srgbClr val="18375B"/>
                </a:solidFill>
                <a:latin typeface="Aptos"/>
              </a:rPr>
              <a:t>Project Codebase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2487168" y="3941064"/>
            <a:ext cx="38862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/>
          <a:lstStyle/>
          <a:p>
            <a:pPr algn="l"/>
            <a:r>
              <a:rPr sz="1080" b="0">
                <a:solidFill>
                  <a:srgbClr val="232A32"/>
                </a:solidFill>
                <a:latin typeface="Aptos"/>
                <a:hlinkClick r:id="rId4"/>
              </a:rPr>
              <a:t>Live GitHub: github.com/mepellireeta-wq/interoperability-framework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6510528" y="3941064"/>
            <a:ext cx="38862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/>
          <a:lstStyle/>
          <a:p>
            <a:pPr algn="l"/>
            <a:r>
              <a:rPr sz="1080" b="0">
                <a:solidFill>
                  <a:srgbClr val="232A32"/>
                </a:solidFill>
                <a:latin typeface="Aptos"/>
              </a:rPr>
              <a:t>Prototype implementation, connectors and integration workflow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594360" y="4535424"/>
            <a:ext cx="1828800" cy="594360"/>
          </a:xfrm>
          <a:prstGeom prst="rect">
            <a:avLst/>
          </a:prstGeom>
          <a:solidFill>
            <a:srgbClr val="F5F9FD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/>
          <a:lstStyle/>
          <a:p>
            <a:pPr algn="l"/>
            <a:r>
              <a:rPr sz="1080" b="1">
                <a:solidFill>
                  <a:srgbClr val="18375B"/>
                </a:solidFill>
                <a:latin typeface="Aptos"/>
              </a:rPr>
              <a:t>Schema Contract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2487168" y="4535424"/>
            <a:ext cx="3886200" cy="594360"/>
          </a:xfrm>
          <a:prstGeom prst="rect">
            <a:avLst/>
          </a:prstGeom>
          <a:solidFill>
            <a:srgbClr val="F5F9FD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/>
          <a:lstStyle/>
          <a:p>
            <a:pPr algn="l"/>
            <a:r>
              <a:rPr sz="1080" b="0">
                <a:solidFill>
                  <a:srgbClr val="232A32"/>
                </a:solidFill>
                <a:latin typeface="Aptos"/>
              </a:rPr>
              <a:t>E-GOV-STD-INTEROP-2026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6510528" y="4535424"/>
            <a:ext cx="3886200" cy="594360"/>
          </a:xfrm>
          <a:prstGeom prst="rect">
            <a:avLst/>
          </a:prstGeom>
          <a:solidFill>
            <a:srgbClr val="F5F9FD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/>
          <a:lstStyle/>
          <a:p>
            <a:pPr algn="l"/>
            <a:r>
              <a:rPr sz="1080" b="0">
                <a:solidFill>
                  <a:srgbClr val="232A32"/>
                </a:solidFill>
                <a:latin typeface="Aptos"/>
              </a:rPr>
              <a:t>Common payload contract for cross-department interoperability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594360" y="5257800"/>
            <a:ext cx="9829800" cy="3474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8375B"/>
                </a:solidFill>
                <a:latin typeface="Aptos"/>
              </a:rPr>
              <a:t>Prototype scope: 28 States + 8 UTs • 10 sectors • citizen + officer workflows • extensible connectors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594360" y="5559552"/>
            <a:ext cx="9829800" cy="2560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5A636C"/>
                </a:solidFill>
                <a:latin typeface="Aptos"/>
              </a:rPr>
              <a:t>Reference template preserved: six-slide maximum, concise points, diagrams/infographics, and clear section structure.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